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image" Target="../media/image11.png"/><Relationship Id="rId8" Type="http://schemas.openxmlformats.org/officeDocument/2006/relationships/image" Target="../media/image1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2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Relationship Id="rId6" Type="http://schemas.openxmlformats.org/officeDocument/2006/relationships/image" Target="../media/image26.png"/><Relationship Id="rId7" Type="http://schemas.openxmlformats.org/officeDocument/2006/relationships/image" Target="../media/image27.png"/><Relationship Id="rId8" Type="http://schemas.openxmlformats.org/officeDocument/2006/relationships/image" Target="../media/image28.png"/><Relationship Id="rId9" Type="http://schemas.openxmlformats.org/officeDocument/2006/relationships/image" Target="../media/image29.png"/><Relationship Id="rId10" Type="http://schemas.openxmlformats.org/officeDocument/2006/relationships/image" Target="../media/image30.png"/><Relationship Id="rId11" Type="http://schemas.openxmlformats.org/officeDocument/2006/relationships/image" Target="../media/image31.png"/><Relationship Id="rId12" Type="http://schemas.openxmlformats.org/officeDocument/2006/relationships/image" Target="../media/image32.png"/><Relationship Id="rId13" Type="http://schemas.openxmlformats.org/officeDocument/2006/relationships/image" Target="../media/image33.png"/><Relationship Id="rId14" Type="http://schemas.openxmlformats.org/officeDocument/2006/relationships/image" Target="../media/image34.png"/><Relationship Id="rId15" Type="http://schemas.openxmlformats.org/officeDocument/2006/relationships/image" Target="../media/image35.png"/><Relationship Id="rId16" Type="http://schemas.openxmlformats.org/officeDocument/2006/relationships/image" Target="../media/image3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image" Target="../media/image3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image" Target="../media/image40.png"/><Relationship Id="rId4" Type="http://schemas.openxmlformats.org/officeDocument/2006/relationships/image" Target="../media/image41.png"/><Relationship Id="rId5" Type="http://schemas.openxmlformats.org/officeDocument/2006/relationships/image" Target="../media/image42.png"/><Relationship Id="rId6" Type="http://schemas.openxmlformats.org/officeDocument/2006/relationships/image" Target="../media/image43.png"/><Relationship Id="rId7" Type="http://schemas.openxmlformats.org/officeDocument/2006/relationships/image" Target="../media/image44.png"/><Relationship Id="rId8" Type="http://schemas.openxmlformats.org/officeDocument/2006/relationships/image" Target="../media/image45.png"/><Relationship Id="rId9" Type="http://schemas.openxmlformats.org/officeDocument/2006/relationships/image" Target="../media/image46.png"/><Relationship Id="rId10" Type="http://schemas.openxmlformats.org/officeDocument/2006/relationships/image" Target="../media/image47.png"/><Relationship Id="rId11" Type="http://schemas.openxmlformats.org/officeDocument/2006/relationships/image" Target="../media/image4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Relationship Id="rId3" Type="http://schemas.openxmlformats.org/officeDocument/2006/relationships/image" Target="../media/image51.png"/><Relationship Id="rId4" Type="http://schemas.openxmlformats.org/officeDocument/2006/relationships/image" Target="../media/image52.png"/><Relationship Id="rId5" Type="http://schemas.openxmlformats.org/officeDocument/2006/relationships/image" Target="../media/image53.png"/><Relationship Id="rId6" Type="http://schemas.openxmlformats.org/officeDocument/2006/relationships/image" Target="../media/image54.png"/><Relationship Id="rId7" Type="http://schemas.openxmlformats.org/officeDocument/2006/relationships/image" Target="../media/image55.png"/><Relationship Id="rId8" Type="http://schemas.openxmlformats.org/officeDocument/2006/relationships/image" Target="../media/image56.png"/><Relationship Id="rId9" Type="http://schemas.openxmlformats.org/officeDocument/2006/relationships/image" Target="../media/image57.png"/><Relationship Id="rId10" Type="http://schemas.openxmlformats.org/officeDocument/2006/relationships/image" Target="../media/image58.png"/><Relationship Id="rId11" Type="http://schemas.openxmlformats.org/officeDocument/2006/relationships/image" Target="../media/image59.png"/><Relationship Id="rId12" Type="http://schemas.openxmlformats.org/officeDocument/2006/relationships/image" Target="../media/image6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png"/><Relationship Id="rId3" Type="http://schemas.openxmlformats.org/officeDocument/2006/relationships/image" Target="../media/image6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.png"/><Relationship Id="rId3" Type="http://schemas.openxmlformats.org/officeDocument/2006/relationships/image" Target="../media/image64.png"/><Relationship Id="rId4" Type="http://schemas.openxmlformats.org/officeDocument/2006/relationships/image" Target="../media/image6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4651920"/>
            <a:ext cx="9144000" cy="4572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62000" y="1748879"/>
            <a:ext cx="9144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b="0" sz="1200" i="0" u="none">
                <a:solidFill>
                  <a:srgbClr val="94A3B8"/>
                </a:solidFill>
                <a:latin typeface="Noto Sans KR Medium"/>
              </a:rPr>
              <a:t>제조 혁신을 위한 프레임워크 전략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2244179"/>
            <a:ext cx="9601200" cy="1188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4680"/>
              </a:lnSpc>
            </a:pPr>
            <a:r>
              <a:rPr b="0" sz="3900" i="0" u="none">
                <a:solidFill>
                  <a:srgbClr val="F8FAFC"/>
                </a:solidFill>
                <a:latin typeface="Noto Sans KR Black"/>
              </a:rPr>
              <a:t>제조 분야 AI Agent</a:t>
            </a:r>
            <a:r>
              <a:t>
</a:t>
            </a:r>
            <a:r>
              <a:rPr b="0" sz="3900" i="0" u="none">
                <a:solidFill>
                  <a:srgbClr val="38BDF8"/>
                </a:solidFill>
                <a:latin typeface="Noto Sans KR Black"/>
              </a:rPr>
              <a:t>아키텍처 구성 및 활용 전략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3661320"/>
            <a:ext cx="781050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b="0" sz="1500" i="0" u="none">
                <a:solidFill>
                  <a:srgbClr val="94A3B8"/>
                </a:solidFill>
                <a:latin typeface="Noto Sans KR"/>
              </a:rPr>
              <a:t>바이브 코딩 기반 표준 개발 체계 구축, 소스 품질 관제, MES 데이터 기반 AI Agent 연동 및 Java 엔터프라이즈 NordAxe 프레임워크 도입 방안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1748879"/>
            <a:ext cx="2385417" cy="2667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4932908"/>
            <a:ext cx="133498" cy="17145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97794" y="4932908"/>
            <a:ext cx="133498" cy="17145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83434" y="4932908"/>
            <a:ext cx="133498" cy="17145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90748" y="4928145"/>
            <a:ext cx="1302246" cy="1809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125" i="0" u="none">
                <a:solidFill>
                  <a:srgbClr val="CBD5E1"/>
                </a:solidFill>
                <a:latin typeface="Noto Sans KR Medium"/>
              </a:rPr>
              <a:t>Inhouse 바이브 코딩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26543" y="4937670"/>
            <a:ext cx="1252091" cy="1619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125" i="0" u="none">
                <a:solidFill>
                  <a:srgbClr val="CBD5E1"/>
                </a:solidFill>
                <a:latin typeface="Noto Sans KR Medium"/>
              </a:rPr>
              <a:t>MES CORE Tooling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2183" y="4937670"/>
            <a:ext cx="1302692" cy="1619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125" i="0" u="none">
                <a:solidFill>
                  <a:srgbClr val="CBD5E1"/>
                </a:solidFill>
                <a:latin typeface="Noto Sans KR Medium"/>
              </a:rPr>
              <a:t>NordAxe Java Agent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533400"/>
            <a:ext cx="10972800" cy="647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200" i="0" u="none">
                <a:solidFill>
                  <a:srgbClr val="2563EB"/>
                </a:solidFill>
                <a:latin typeface="Noto Sans KR"/>
              </a:rPr>
              <a:t>EXECUTIVE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762000"/>
            <a:ext cx="1152144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2400" i="0" u="none">
                <a:solidFill>
                  <a:srgbClr val="0F172A"/>
                </a:solidFill>
                <a:latin typeface="Noto Sans KR ExtraBold"/>
              </a:rPr>
              <a:t>제조 AI Agent 아키텍처 3대 핵심 기둥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2695575"/>
            <a:ext cx="3505200" cy="245745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3400" y="2695575"/>
            <a:ext cx="3505200" cy="245745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7200" y="2695575"/>
            <a:ext cx="3505200" cy="245745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925" y="3009900"/>
            <a:ext cx="457200" cy="45720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57725" y="3009900"/>
            <a:ext cx="457200" cy="45720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91525" y="3009900"/>
            <a:ext cx="457200" cy="457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23925" y="3657600"/>
            <a:ext cx="28765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64748B"/>
                </a:solidFill>
                <a:latin typeface="Noto Sans KR"/>
              </a:rPr>
              <a:t>PILLAR 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925" y="3886200"/>
            <a:ext cx="3020377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650" i="0" u="none">
                <a:solidFill>
                  <a:srgbClr val="0F172A"/>
                </a:solidFill>
                <a:latin typeface="Noto Sans KR"/>
              </a:rPr>
              <a:t>바이브 코딩 표준화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3925" y="4324350"/>
            <a:ext cx="2876550" cy="514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b="0" sz="1350" i="0" u="none">
                <a:solidFill>
                  <a:srgbClr val="334155"/>
                </a:solidFill>
                <a:latin typeface="Noto Sans KR"/>
              </a:rPr>
              <a:t>Spring 구조 유사 프레임워크와 컨벤션 기반 정확도 극대화.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57725" y="3657600"/>
            <a:ext cx="28765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64748B"/>
                </a:solidFill>
                <a:latin typeface="Noto Sans KR"/>
              </a:rPr>
              <a:t>PILLAR 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7725" y="3886200"/>
            <a:ext cx="3020377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650" i="0" u="none">
                <a:solidFill>
                  <a:srgbClr val="0F172A"/>
                </a:solidFill>
                <a:latin typeface="Noto Sans KR"/>
              </a:rPr>
              <a:t>운영 MES Tooling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7725" y="4324350"/>
            <a:ext cx="2876550" cy="514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b="0" sz="1350" i="0" u="none">
                <a:solidFill>
                  <a:srgbClr val="334155"/>
                </a:solidFill>
                <a:latin typeface="Noto Sans KR"/>
              </a:rPr>
              <a:t>WO·LOT·설비 데이터 연동 Tool 및 Log 분석 자율 제어.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91525" y="3657600"/>
            <a:ext cx="28765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64748B"/>
                </a:solidFill>
                <a:latin typeface="Noto Sans KR"/>
              </a:rPr>
              <a:t>PILLAR 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91525" y="3886200"/>
            <a:ext cx="3020377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650" i="0" u="none">
                <a:solidFill>
                  <a:srgbClr val="0F172A"/>
                </a:solidFill>
                <a:latin typeface="Noto Sans KR"/>
              </a:rPr>
              <a:t>NordAxe Java Agent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91525" y="4286250"/>
            <a:ext cx="2876550" cy="514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b="0" sz="1350" i="0" u="none">
                <a:solidFill>
                  <a:srgbClr val="334155"/>
                </a:solidFill>
                <a:latin typeface="Noto Sans KR"/>
              </a:rPr>
              <a:t>Enterprise Java 자산 직결을 통한 비용 절감 및 대규모 안정성.</a:t>
            </a:r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0967" y="3133725"/>
            <a:ext cx="163115" cy="209550"/>
          </a:xfrm>
          <a:prstGeom prst="rect">
            <a:avLst/>
          </a:prstGeom>
        </p:spPr>
      </p:pic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04767" y="3133725"/>
            <a:ext cx="163115" cy="209550"/>
          </a:xfrm>
          <a:prstGeom prst="rect">
            <a:avLst/>
          </a:prstGeom>
        </p:spPr>
      </p:pic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38567" y="3133725"/>
            <a:ext cx="163115" cy="20955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533400"/>
            <a:ext cx="10972800" cy="647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200" i="0" u="none">
                <a:solidFill>
                  <a:srgbClr val="2563EB"/>
                </a:solidFill>
                <a:latin typeface="Noto Sans KR"/>
              </a:rPr>
              <a:t>DEVELOPMENT PHASE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2650" y="2709862"/>
            <a:ext cx="5619750" cy="239077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09600" y="762000"/>
            <a:ext cx="1152144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2400" i="0" u="none">
                <a:solidFill>
                  <a:srgbClr val="0F172A"/>
                </a:solidFill>
                <a:latin typeface="Noto Sans KR ExtraBold"/>
              </a:rPr>
              <a:t>개발 단계: 바이브 코딩 표준 및 안티패턴 관리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2028825"/>
            <a:ext cx="5010150" cy="112395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3343275"/>
            <a:ext cx="5010150" cy="112395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4657725"/>
            <a:ext cx="5010150" cy="112395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7450" y="3048000"/>
            <a:ext cx="148232" cy="1905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76300" y="2219325"/>
            <a:ext cx="474059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0F172A"/>
                </a:solidFill>
                <a:latin typeface="Noto Sans KR"/>
              </a:rPr>
              <a:t>Spring 구조적 동일성 확보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6300" y="2505075"/>
            <a:ext cx="451485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334155"/>
                </a:solidFill>
                <a:latin typeface="Noto Sans KR"/>
              </a:rPr>
              <a:t>Inhouse 프레임워크 구조 일치로 AI 동작 정확도 향상 및 토큰 소모 최소화.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6300" y="3533775"/>
            <a:ext cx="474059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0F172A"/>
                </a:solidFill>
                <a:latin typeface="Noto Sans KR"/>
              </a:rPr>
              <a:t>컨벤션 &amp; 안티패턴 정의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6300" y="3819525"/>
            <a:ext cx="451485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334155"/>
                </a:solidFill>
                <a:latin typeface="Noto Sans KR"/>
              </a:rPr>
              <a:t>비즈니스 룰 기반 코딩 규범 명시 및 리소스 생성 시 금지 규칙 정립.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6300" y="4848225"/>
            <a:ext cx="474059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0F172A"/>
                </a:solidFill>
                <a:latin typeface="Noto Sans KR"/>
              </a:rPr>
              <a:t>3대 설계서 표준 양식화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6300" y="5133975"/>
            <a:ext cx="451485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334155"/>
                </a:solidFill>
                <a:latin typeface="Noto Sans KR"/>
              </a:rPr>
              <a:t>프론트엔드·백엔드·인터페이스 통신 스펙을 표준 규격으로 사전 정의.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0932" y="3014662"/>
            <a:ext cx="2222621" cy="257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500" i="0" u="none">
                <a:solidFill>
                  <a:srgbClr val="FFFFFF"/>
                </a:solidFill>
                <a:latin typeface="Noto Sans KR"/>
              </a:rPr>
              <a:t>AI 정확도 제어 핵심 원칙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7450" y="3462337"/>
            <a:ext cx="5010150" cy="514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b="1" sz="1350" i="0" u="none">
                <a:solidFill>
                  <a:srgbClr val="38BDF8"/>
                </a:solidFill>
                <a:latin typeface="Noto Sans KR"/>
              </a:rPr>
              <a:t>구조적 유사성:</a:t>
            </a:r>
            <a:r>
              <a:rPr b="0" sz="1350" i="0" u="none">
                <a:solidFill>
                  <a:srgbClr val="CBD5E1"/>
                </a:solidFill>
                <a:latin typeface="Noto Sans KR"/>
              </a:rPr>
              <a:t> 프레임워크 유사도가 낮을수록 AI 할루시네이션 급증.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7450" y="4129087"/>
            <a:ext cx="5010150" cy="257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b="1" sz="1350" i="0" u="none">
                <a:solidFill>
                  <a:srgbClr val="38BDF8"/>
                </a:solidFill>
                <a:latin typeface="Noto Sans KR"/>
              </a:rPr>
              <a:t>명확한 컨벤션:</a:t>
            </a:r>
            <a:r>
              <a:rPr b="0" sz="1350" i="0" u="none">
                <a:solidFill>
                  <a:srgbClr val="CBD5E1"/>
                </a:solidFill>
                <a:latin typeface="Noto Sans KR"/>
              </a:rPr>
              <a:t> 라이브러리 사용 가이드로 불필요한 재작성 방지.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7450" y="4538662"/>
            <a:ext cx="5010150" cy="257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b="1" sz="1350" i="0" u="none">
                <a:solidFill>
                  <a:srgbClr val="38BDF8"/>
                </a:solidFill>
                <a:latin typeface="Noto Sans KR"/>
              </a:rPr>
              <a:t>양식 표준화:</a:t>
            </a:r>
            <a:r>
              <a:rPr b="0" sz="1350" i="0" u="none">
                <a:solidFill>
                  <a:srgbClr val="CBD5E1"/>
                </a:solidFill>
                <a:latin typeface="Noto Sans KR"/>
              </a:rPr>
              <a:t> 설비·타 시스템 인터페이스 스펙 자동 생성 유도.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533400"/>
            <a:ext cx="10972800" cy="647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200" i="0" u="none">
                <a:solidFill>
                  <a:srgbClr val="2563EB"/>
                </a:solidFill>
                <a:latin typeface="Noto Sans KR"/>
              </a:rPr>
              <a:t>QUALITY CONTROL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762000"/>
            <a:ext cx="1152144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2400" i="0" u="none">
                <a:solidFill>
                  <a:srgbClr val="0F172A"/>
                </a:solidFill>
                <a:latin typeface="Noto Sans KR ExtraBold"/>
              </a:rPr>
              <a:t>형상 관리 브랜치 전략 및 안전 배포 파이프라인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3000375"/>
            <a:ext cx="2628900" cy="180975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90900" y="3000375"/>
            <a:ext cx="2628900" cy="180975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3000375"/>
            <a:ext cx="2628900" cy="180975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53500" y="3000375"/>
            <a:ext cx="2628900" cy="180975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7725" y="3238500"/>
            <a:ext cx="721816" cy="22860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29025" y="3238500"/>
            <a:ext cx="721816" cy="228600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10325" y="3238500"/>
            <a:ext cx="721816" cy="228600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91625" y="3238500"/>
            <a:ext cx="721816" cy="2286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47725" y="3581400"/>
            <a:ext cx="226028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0F172A"/>
                </a:solidFill>
                <a:latin typeface="Noto Sans KR"/>
              </a:rPr>
              <a:t>권한 분리 &amp; Commit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7725" y="3886200"/>
            <a:ext cx="215265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475569"/>
                </a:solidFill>
                <a:latin typeface="Noto Sans KR"/>
              </a:rPr>
              <a:t>산출물 변경 이력 단위 원자적 Commit 생성 및 main 직커밋 통제.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29025" y="3581400"/>
            <a:ext cx="226028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0F172A"/>
                </a:solidFill>
                <a:latin typeface="Noto Sans KR"/>
              </a:rPr>
              <a:t>feature 검증 &amp; 회귀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29025" y="3886200"/>
            <a:ext cx="215265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475569"/>
                </a:solidFill>
                <a:latin typeface="Noto Sans KR"/>
              </a:rPr>
              <a:t>연계 테스트 미만족 시 산출물 단계 회귀 후 feature 브랜치 삭제.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0325" y="3581400"/>
            <a:ext cx="2260282" cy="2000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0F172A"/>
                </a:solidFill>
                <a:latin typeface="Noto Sans KR"/>
              </a:rPr>
              <a:t>develop CI/CD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0325" y="3857625"/>
            <a:ext cx="215265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475569"/>
                </a:solidFill>
                <a:latin typeface="Noto Sans KR"/>
              </a:rPr>
              <a:t>소스와 설정을 병합하여 개발 서버 배포 및 자동화 테스트 검증.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91625" y="3581400"/>
            <a:ext cx="226028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0F172A"/>
                </a:solidFill>
                <a:latin typeface="Noto Sans KR"/>
              </a:rPr>
              <a:t>master 운영 배포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91625" y="3886200"/>
            <a:ext cx="215265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475569"/>
                </a:solidFill>
                <a:latin typeface="Noto Sans KR"/>
              </a:rPr>
              <a:t>테스트 완료된 Commit 및 설정 최종 병합 후 운영 서버 배포.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362075"/>
            <a:ext cx="10972800" cy="500062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" y="495300"/>
            <a:ext cx="10972800" cy="6000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200" i="0" u="none">
                <a:solidFill>
                  <a:srgbClr val="2563EB"/>
                </a:solidFill>
                <a:latin typeface="Noto Sans KR"/>
              </a:rPr>
              <a:t>ARCHITECTURE DIAGRAM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704850"/>
            <a:ext cx="11521440" cy="390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2250" i="0" u="none">
                <a:solidFill>
                  <a:srgbClr val="0F172A"/>
                </a:solidFill>
                <a:latin typeface="Noto Sans KR ExtraBold"/>
              </a:rPr>
              <a:t>바이브 코딩 기반 개발 및 CI/CD 파이프라인 아키텍처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825" y="1638300"/>
            <a:ext cx="2958554" cy="95250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34879" y="2028825"/>
            <a:ext cx="133498" cy="17145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58878" y="1647825"/>
            <a:ext cx="2958554" cy="93345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07932" y="2028825"/>
            <a:ext cx="133498" cy="17145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31931" y="1652587"/>
            <a:ext cx="3474094" cy="923925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14442" y="3676650"/>
            <a:ext cx="163115" cy="209550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5825" y="4972050"/>
            <a:ext cx="3130450" cy="1114425"/>
          </a:xfrm>
          <a:prstGeom prst="rect">
            <a:avLst/>
          </a:prstGeom>
        </p:spPr>
      </p:pic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06775" y="5443537"/>
            <a:ext cx="133498" cy="171450"/>
          </a:xfrm>
          <a:prstGeom prst="rect">
            <a:avLst/>
          </a:prstGeom>
        </p:spPr>
      </p:pic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30774" y="4972050"/>
            <a:ext cx="3130450" cy="1114425"/>
          </a:xfrm>
          <a:prstGeom prst="rect">
            <a:avLst/>
          </a:prstGeom>
        </p:spPr>
      </p:pic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51725" y="5443537"/>
            <a:ext cx="133498" cy="171450"/>
          </a:xfrm>
          <a:prstGeom prst="rect">
            <a:avLst/>
          </a:prstGeom>
        </p:spPr>
      </p:pic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175724" y="4972050"/>
            <a:ext cx="3130450" cy="1114425"/>
          </a:xfrm>
          <a:prstGeom prst="rect">
            <a:avLst/>
          </a:prstGeom>
        </p:spPr>
      </p:pic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290911" y="1790700"/>
            <a:ext cx="148232" cy="190500"/>
          </a:xfrm>
          <a:prstGeom prst="rect">
            <a:avLst/>
          </a:prstGeom>
        </p:spPr>
      </p:pic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763964" y="1800225"/>
            <a:ext cx="148232" cy="190500"/>
          </a:xfrm>
          <a:prstGeom prst="rect">
            <a:avLst/>
          </a:prstGeom>
        </p:spPr>
      </p:pic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494787" y="1804987"/>
            <a:ext cx="148232" cy="1905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076325" y="2038350"/>
            <a:ext cx="257755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b="1" sz="1350" i="0" u="none">
                <a:solidFill>
                  <a:srgbClr val="FFFFFF"/>
                </a:solidFill>
                <a:latin typeface="Noto Sans KR"/>
              </a:rPr>
              <a:t>Inhouse 코딩 컨벤션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6325" y="2266950"/>
            <a:ext cx="2577554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b="0" sz="1050" i="0" u="none">
                <a:solidFill>
                  <a:srgbClr val="94A3B8"/>
                </a:solidFill>
                <a:latin typeface="Noto Sans KR"/>
              </a:rPr>
              <a:t>Spring 유사 구조 &amp; 안티패턴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9378" y="2047875"/>
            <a:ext cx="257755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b="1" sz="1350" i="0" u="none">
                <a:solidFill>
                  <a:srgbClr val="FFFFFF"/>
                </a:solidFill>
                <a:latin typeface="Noto Sans KR"/>
              </a:rPr>
              <a:t>3대 설계서 표준 양식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49378" y="2276475"/>
            <a:ext cx="2577554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b="0" sz="1050" i="0" u="none">
                <a:solidFill>
                  <a:srgbClr val="94A3B8"/>
                </a:solidFill>
                <a:latin typeface="Noto Sans KR"/>
              </a:rPr>
              <a:t>UI/UX, Backend, Interface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22431" y="2052637"/>
            <a:ext cx="3093094" cy="2000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b="1" sz="1350" i="0" u="none">
                <a:solidFill>
                  <a:srgbClr val="FFFFFF"/>
                </a:solidFill>
                <a:latin typeface="Noto Sans KR"/>
              </a:rPr>
              <a:t>Vibe Coding AI Agent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22431" y="2252662"/>
            <a:ext cx="3093094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b="0" sz="1050" i="0" u="none">
                <a:solidFill>
                  <a:srgbClr val="BFDBFE"/>
                </a:solidFill>
                <a:latin typeface="Noto Sans KR"/>
              </a:rPr>
              <a:t>소스코드 &amp; 산출물 자동 생성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6325" y="5438775"/>
            <a:ext cx="274945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475569"/>
                </a:solidFill>
                <a:latin typeface="Noto Sans KR"/>
              </a:rPr>
              <a:t>개별 기능 검증 및 산출물 단위 Commit 생성 (실패 시 회귀 후 삭제)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21274" y="5438775"/>
            <a:ext cx="274945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475569"/>
                </a:solidFill>
                <a:latin typeface="Noto Sans KR"/>
              </a:rPr>
              <a:t>소스/설정 통합 후 개발 서버 자동 배포 및 연계 테스트 수행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66224" y="5438775"/>
            <a:ext cx="274945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475569"/>
                </a:solidFill>
                <a:latin typeface="Noto Sans KR"/>
              </a:rPr>
              <a:t>Merge 승인 통제 후 운영 환경 배포 (Direct Commit 차단)</a:t>
            </a:r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76325" y="5186362"/>
            <a:ext cx="118616" cy="152400"/>
          </a:xfrm>
          <a:prstGeom prst="rect">
            <a:avLst/>
          </a:prstGeom>
        </p:spPr>
      </p:pic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721274" y="5186362"/>
            <a:ext cx="118616" cy="152400"/>
          </a:xfrm>
          <a:prstGeom prst="rect">
            <a:avLst/>
          </a:prstGeom>
        </p:spPr>
      </p:pic>
      <p:pic>
        <p:nvPicPr>
          <p:cNvPr id="30" name="Picture 29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366224" y="5186362"/>
            <a:ext cx="118616" cy="1524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71141" y="5162550"/>
            <a:ext cx="1270627" cy="2000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0F172A"/>
                </a:solidFill>
                <a:latin typeface="Noto Sans KR"/>
              </a:rPr>
              <a:t>feature Branch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16090" y="5162550"/>
            <a:ext cx="1340323" cy="2000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0F172A"/>
                </a:solidFill>
                <a:latin typeface="Noto Sans KR"/>
              </a:rPr>
              <a:t>develop (CI/CD)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61040" y="5162550"/>
            <a:ext cx="1170458" cy="2000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0F172A"/>
                </a:solidFill>
                <a:latin typeface="Noto Sans KR"/>
              </a:rPr>
              <a:t>master (Prod)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533400"/>
            <a:ext cx="10972800" cy="647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200" i="0" u="none">
                <a:solidFill>
                  <a:srgbClr val="2563EB"/>
                </a:solidFill>
                <a:latin typeface="Noto Sans KR"/>
              </a:rPr>
              <a:t>LEGACY GOVERNANCE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762000"/>
            <a:ext cx="1152144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2400" i="0" u="none">
                <a:solidFill>
                  <a:srgbClr val="0F172A"/>
                </a:solidFill>
                <a:latin typeface="Noto Sans KR ExtraBold"/>
              </a:rPr>
              <a:t>기존 소스 품질 관제 체계 (비-바이브 코딩 프로젝트)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2838450"/>
            <a:ext cx="3505200" cy="21717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3400" y="2838450"/>
            <a:ext cx="3505200" cy="217170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7200" y="2838450"/>
            <a:ext cx="3505200" cy="21717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3181350"/>
            <a:ext cx="28956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800" i="0" u="none">
                <a:solidFill>
                  <a:srgbClr val="2563EB"/>
                </a:solidFill>
                <a:latin typeface="Noto Sans KR ExtraBol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562350"/>
            <a:ext cx="3040380" cy="257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500" i="0" u="none">
                <a:solidFill>
                  <a:srgbClr val="0F172A"/>
                </a:solidFill>
                <a:latin typeface="Noto Sans KR"/>
              </a:rPr>
              <a:t>Spring 베이스 범용성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933825"/>
            <a:ext cx="2895600" cy="771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b="0" sz="1350" i="0" u="none">
                <a:solidFill>
                  <a:srgbClr val="334155"/>
                </a:solidFill>
                <a:latin typeface="Noto Sans KR"/>
              </a:rPr>
              <a:t>레거시 프레임워크를 범용성 높은 Spring 기반 아키텍처로 재구성하여 구조 표준화.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48200" y="3181350"/>
            <a:ext cx="28956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800" i="0" u="none">
                <a:solidFill>
                  <a:srgbClr val="2563EB"/>
                </a:solidFill>
                <a:latin typeface="Noto Sans KR ExtraBol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48200" y="3562350"/>
            <a:ext cx="3040380" cy="257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500" i="0" u="none">
                <a:solidFill>
                  <a:srgbClr val="0F172A"/>
                </a:solidFill>
                <a:latin typeface="Noto Sans KR"/>
              </a:rPr>
              <a:t>규범 필수 적용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48200" y="3933825"/>
            <a:ext cx="2895600" cy="771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b="0" sz="1350" i="0" u="none">
                <a:solidFill>
                  <a:srgbClr val="334155"/>
                </a:solidFill>
                <a:latin typeface="Noto Sans KR"/>
              </a:rPr>
              <a:t>개발 단계와 동일한 코딩 컨벤션 및 안티패턴 규칙을 레거시 관제에도 강제 적용.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2000" y="3181350"/>
            <a:ext cx="28956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800" i="0" u="none">
                <a:solidFill>
                  <a:srgbClr val="0F172A"/>
                </a:solidFill>
                <a:latin typeface="Noto Sans KR ExtraBold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2000" y="3562350"/>
            <a:ext cx="3040380" cy="257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500" i="0" u="none">
                <a:solidFill>
                  <a:srgbClr val="0F172A"/>
                </a:solidFill>
                <a:latin typeface="Noto Sans KR"/>
              </a:rPr>
              <a:t>Log 기반 AI 검증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2000" y="3933825"/>
            <a:ext cx="2895600" cy="771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b="0" sz="1350" i="0" u="none">
                <a:solidFill>
                  <a:srgbClr val="334155"/>
                </a:solidFill>
                <a:latin typeface="Noto Sans KR"/>
              </a:rPr>
              <a:t>실행 로그 분석 데이터를 Prompt화하여 소스 품질과 동작 무결성을 AI가 검증.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533400"/>
            <a:ext cx="10972800" cy="647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200" i="0" u="none">
                <a:solidFill>
                  <a:srgbClr val="2563EB"/>
                </a:solidFill>
                <a:latin typeface="Noto Sans KR"/>
              </a:rPr>
              <a:t>MES INTEGRATION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2433637"/>
            <a:ext cx="5334000" cy="294322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8400" y="2733675"/>
            <a:ext cx="5334000" cy="23431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09600" y="762000"/>
            <a:ext cx="1152144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2400" i="0" u="none">
                <a:solidFill>
                  <a:srgbClr val="0F172A"/>
                </a:solidFill>
                <a:latin typeface="Noto Sans KR ExtraBold"/>
              </a:rPr>
              <a:t>운영 단계: MES 핵심 DATA 연동 AI Agent Tool 개발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925" y="2719387"/>
            <a:ext cx="1401663" cy="2286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62725" y="3019425"/>
            <a:ext cx="1848594" cy="228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23925" y="3071812"/>
            <a:ext cx="4940617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650" i="0" u="none">
                <a:solidFill>
                  <a:srgbClr val="0F172A"/>
                </a:solidFill>
                <a:latin typeface="Noto Sans KR"/>
              </a:rPr>
              <a:t>MES 주요 엔티티 활용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925" y="3471862"/>
            <a:ext cx="4705350" cy="771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b="0" sz="1350" i="0" u="none">
                <a:solidFill>
                  <a:srgbClr val="334155"/>
                </a:solidFill>
                <a:latin typeface="Noto Sans KR"/>
              </a:rPr>
              <a:t>WO, LOT, EQUIPMENT, PROCESS, TRACKIN-OUT 등 핵심 제조 데이터를 AI Agent가 즉시 조회·제어할 수 있는 표준 Tool 세트 구축.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62725" y="3371850"/>
            <a:ext cx="4940617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650" i="0" u="none">
                <a:solidFill>
                  <a:srgbClr val="0F172A"/>
                </a:solidFill>
                <a:latin typeface="Noto Sans KR"/>
              </a:rPr>
              <a:t>인터페이스 &amp; 통신 로그 추출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62725" y="3771900"/>
            <a:ext cx="4705350" cy="514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b="0" sz="1350" i="0" u="none">
                <a:solidFill>
                  <a:srgbClr val="334155"/>
                </a:solidFill>
                <a:latin typeface="Noto Sans KR"/>
              </a:rPr>
              <a:t>설비 및 외부 타 시스템과의 통신 인터페이스 규격과 MES 핵심 처리 Log를 실시간으로 자동 추출하는 전용 AI Tool 개발.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3925" y="4433887"/>
            <a:ext cx="1191666" cy="285750"/>
          </a:xfrm>
          <a:prstGeom prst="rect">
            <a:avLst/>
          </a:prstGeom>
        </p:spPr>
      </p:pic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191791" y="4433887"/>
            <a:ext cx="1228725" cy="285750"/>
          </a:xfrm>
          <a:prstGeom prst="rect">
            <a:avLst/>
          </a:prstGeom>
        </p:spPr>
      </p:pic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496716" y="4433887"/>
            <a:ext cx="1488132" cy="285750"/>
          </a:xfrm>
          <a:prstGeom prst="rect">
            <a:avLst/>
          </a:prstGeom>
        </p:spPr>
      </p:pic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23925" y="4795837"/>
            <a:ext cx="1228725" cy="266700"/>
          </a:xfrm>
          <a:prstGeom prst="rect">
            <a:avLst/>
          </a:prstGeom>
        </p:spPr>
      </p:pic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62725" y="4476750"/>
            <a:ext cx="1140023" cy="285750"/>
          </a:xfrm>
          <a:prstGeom prst="rect">
            <a:avLst/>
          </a:prstGeom>
        </p:spPr>
      </p:pic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778948" y="4476750"/>
            <a:ext cx="1159519" cy="28575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533400"/>
            <a:ext cx="10972800" cy="647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200" i="0" u="none">
                <a:solidFill>
                  <a:srgbClr val="2563EB"/>
                </a:solidFill>
                <a:latin typeface="Noto Sans KR"/>
              </a:rPr>
              <a:t>PROMPT MANAGEMENT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762000"/>
            <a:ext cx="1152144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2400" i="0" u="none">
                <a:solidFill>
                  <a:srgbClr val="0F172A"/>
                </a:solidFill>
                <a:latin typeface="Noto Sans KR ExtraBold"/>
              </a:rPr>
              <a:t>프롬프트 파이프라인 관리 및 엔지니어링 고도화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3181350"/>
            <a:ext cx="2600325" cy="14478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00425" y="3181350"/>
            <a:ext cx="2600325" cy="144780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1250" y="3181350"/>
            <a:ext cx="2600325" cy="14478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82075" y="3181350"/>
            <a:ext cx="2600325" cy="14478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38200" y="3409950"/>
            <a:ext cx="2250281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0F172A"/>
                </a:solidFill>
                <a:latin typeface="Noto Sans KR"/>
              </a:rPr>
              <a:t>DB 매핑 &amp; JSON 생성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200" y="3714750"/>
            <a:ext cx="214312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334155"/>
                </a:solidFill>
                <a:latin typeface="Noto Sans KR"/>
              </a:rPr>
              <a:t>Prompt별 JPA Entity Column/Key 일치화로 자동 JSON 저장.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29025" y="3409950"/>
            <a:ext cx="2250281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0F172A"/>
                </a:solidFill>
                <a:latin typeface="Noto Sans KR"/>
              </a:rPr>
              <a:t>GUID 기반 메타 관리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29025" y="3714750"/>
            <a:ext cx="214312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334155"/>
                </a:solidFill>
                <a:latin typeface="Noto Sans KR"/>
              </a:rPr>
              <a:t>GUID 부여, 실행·보관 주기 관리, Shared Prompt 및 Alarm 설정.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9850" y="3409950"/>
            <a:ext cx="2250281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0F172A"/>
                </a:solidFill>
                <a:latin typeface="Noto Sans KR"/>
              </a:rPr>
              <a:t>시각화 라이브러리 연동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19850" y="3714750"/>
            <a:ext cx="214312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334155"/>
                </a:solidFill>
                <a:latin typeface="Noto Sans KR"/>
              </a:rPr>
              <a:t>분석 데이터 생성 시 즉시 시각화 차트 및 알람 트리거 자동 작동.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0675" y="3409950"/>
            <a:ext cx="2250281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0F172A"/>
                </a:solidFill>
                <a:latin typeface="Noto Sans KR"/>
              </a:rPr>
              <a:t>LLM 기반 성능 분석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10675" y="3714750"/>
            <a:ext cx="214312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334155"/>
                </a:solidFill>
                <a:latin typeface="Noto Sans KR"/>
              </a:rPr>
              <a:t>Prompt 통계 및 유효성 LLM 분석을 통한 지속적 엔지니어링 고도화.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495300"/>
            <a:ext cx="10972800" cy="6000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200" i="0" u="none">
                <a:solidFill>
                  <a:srgbClr val="2563EB"/>
                </a:solidFill>
                <a:latin typeface="Noto Sans KR"/>
              </a:rPr>
              <a:t>ARCHITECTURE DIAGRAM 02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6300" y="1590675"/>
            <a:ext cx="10439400" cy="70485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6300" y="5562600"/>
            <a:ext cx="10439400" cy="533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09600" y="704850"/>
            <a:ext cx="11521440" cy="390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2250" i="0" u="none">
                <a:solidFill>
                  <a:srgbClr val="0F172A"/>
                </a:solidFill>
                <a:latin typeface="Noto Sans KR ExtraBold"/>
              </a:rPr>
              <a:t>운영 AI Agent &amp; MES Tool 서비스 전체 시스템 구성도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19403" y="1866900"/>
            <a:ext cx="118616" cy="1524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26276" y="1781175"/>
            <a:ext cx="2060823" cy="32385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6300" y="3405187"/>
            <a:ext cx="3378249" cy="104775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06949" y="3405187"/>
            <a:ext cx="3378249" cy="1047750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937599" y="3405187"/>
            <a:ext cx="3378249" cy="1047750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04900" y="1847850"/>
            <a:ext cx="148232" cy="190500"/>
          </a:xfrm>
          <a:prstGeom prst="rect">
            <a:avLst/>
          </a:prstGeom>
        </p:spPr>
      </p:pic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04900" y="5734050"/>
            <a:ext cx="148232" cy="190500"/>
          </a:xfrm>
          <a:prstGeom prst="rect">
            <a:avLst/>
          </a:prstGeom>
        </p:spPr>
      </p:pic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969222" y="5734050"/>
            <a:ext cx="148232" cy="190500"/>
          </a:xfrm>
          <a:prstGeom prst="rect">
            <a:avLst/>
          </a:prstGeom>
        </p:spPr>
      </p:pic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852743" y="5734050"/>
            <a:ext cx="148232" cy="1905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076325" y="3605212"/>
            <a:ext cx="2978199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93C5FD"/>
                </a:solidFill>
                <a:latin typeface="Noto Sans KR"/>
              </a:rPr>
              <a:t>PROMPT METADATA DB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6325" y="3814762"/>
            <a:ext cx="2978199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FFFFFF"/>
                </a:solidFill>
                <a:latin typeface="Noto Sans KR"/>
              </a:rPr>
              <a:t>JPA Entity Column 매핑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6325" y="4081462"/>
            <a:ext cx="2978199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050" i="0" u="none">
                <a:solidFill>
                  <a:srgbClr val="CBD5E1"/>
                </a:solidFill>
                <a:latin typeface="Noto Sans KR"/>
              </a:rPr>
              <a:t>JSON 자동 변환 및 보관주기 관리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06974" y="3605212"/>
            <a:ext cx="2978199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A7F3D0"/>
                </a:solidFill>
                <a:latin typeface="Noto Sans KR"/>
              </a:rPr>
              <a:t>MES CORE TOOL API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06974" y="3814762"/>
            <a:ext cx="2978199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FFFFFF"/>
                </a:solidFill>
                <a:latin typeface="Noto Sans KR"/>
              </a:rPr>
              <a:t>WO / LOT / 설비 / Process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06974" y="4081462"/>
            <a:ext cx="2978199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050" i="0" u="none">
                <a:solidFill>
                  <a:srgbClr val="CBD5E1"/>
                </a:solidFill>
                <a:latin typeface="Noto Sans KR"/>
              </a:rPr>
              <a:t>TRACKIN-OUT &amp; 통신 Log 파싱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7624" y="3605212"/>
            <a:ext cx="2978199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E9D5FF"/>
                </a:solidFill>
                <a:latin typeface="Noto Sans KR"/>
              </a:rPr>
              <a:t>PROMPT HIGH-ADVANCED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7624" y="3814762"/>
            <a:ext cx="2978199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FFFFFF"/>
                </a:solidFill>
                <a:latin typeface="Noto Sans KR"/>
              </a:rPr>
              <a:t>LLM 프롬프트 분석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7624" y="4081462"/>
            <a:ext cx="2978199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050" i="0" u="none">
                <a:solidFill>
                  <a:srgbClr val="CBD5E1"/>
                </a:solidFill>
                <a:latin typeface="Noto Sans KR"/>
              </a:rPr>
              <a:t>사용 통계 &amp; 데이터 유효성 검증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05532" y="5715000"/>
            <a:ext cx="180989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FFFFFF"/>
                </a:solidFill>
                <a:latin typeface="Noto Sans KR"/>
              </a:rPr>
              <a:t>시각화 라이브러리 연동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69855" y="5715000"/>
            <a:ext cx="1829097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FFFFFF"/>
                </a:solidFill>
                <a:latin typeface="Noto Sans KR"/>
              </a:rPr>
              <a:t>이상 감지 실시간 Alarm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376" y="5715000"/>
            <a:ext cx="1933575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FFFFFF"/>
                </a:solidFill>
                <a:latin typeface="Noto Sans KR"/>
              </a:rPr>
              <a:t>MES DB &amp; Log 스토리지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67432" y="1743075"/>
            <a:ext cx="256371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FFFFFF"/>
                </a:solidFill>
                <a:latin typeface="Noto Sans KR"/>
              </a:rPr>
              <a:t>사용자 / 관리자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67432" y="1971675"/>
            <a:ext cx="2563713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050" i="0" u="none">
                <a:solidFill>
                  <a:srgbClr val="94A3B8"/>
                </a:solidFill>
                <a:latin typeface="Noto Sans KR"/>
              </a:rPr>
              <a:t>Prompt 정의 &amp; 실행 주기 및 대상 Data 설정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533400"/>
            <a:ext cx="10972800" cy="647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200" i="0" u="none">
                <a:solidFill>
                  <a:srgbClr val="2563EB"/>
                </a:solidFill>
                <a:latin typeface="Noto Sans KR"/>
              </a:rPr>
              <a:t>FRAMEWORK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762000"/>
            <a:ext cx="1152144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2400" i="0" u="none">
                <a:solidFill>
                  <a:srgbClr val="0F172A"/>
                </a:solidFill>
                <a:latin typeface="Noto Sans KR ExtraBold"/>
              </a:rPr>
              <a:t>왜 NordAxe(OpenProject) 프레임워크인가?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7450" y="2609850"/>
            <a:ext cx="5314950" cy="12192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7450" y="3981450"/>
            <a:ext cx="5314950" cy="1219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09600" y="3095625"/>
            <a:ext cx="531495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00"/>
              </a:lnSpc>
            </a:pPr>
            <a:r>
              <a:rPr b="0" sz="7200" i="0" u="none">
                <a:solidFill>
                  <a:srgbClr val="2563EB"/>
                </a:solidFill>
                <a:latin typeface="Noto Sans KR Black"/>
              </a:rPr>
              <a:t>90%+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4124325"/>
            <a:ext cx="5314950" cy="257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500" i="0" u="none">
                <a:solidFill>
                  <a:srgbClr val="0F172A"/>
                </a:solidFill>
                <a:latin typeface="Noto Sans KR"/>
              </a:rPr>
              <a:t>현재 Python 편중 AI 생태계 비율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4457700"/>
            <a:ext cx="5314950" cy="257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b="0" sz="1350" i="0" u="none">
                <a:solidFill>
                  <a:srgbClr val="475569"/>
                </a:solidFill>
                <a:latin typeface="Noto Sans KR"/>
              </a:rPr>
              <a:t>그러나 기업 Enterprise 환경은 대부분 Java/C# 기반.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05575" y="2847975"/>
            <a:ext cx="5080635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0F172A"/>
                </a:solidFill>
                <a:latin typeface="Noto Sans KR"/>
              </a:rPr>
              <a:t>Java 비즈니스 모듈 직접 재활용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05575" y="3133725"/>
            <a:ext cx="48387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334155"/>
                </a:solidFill>
                <a:latin typeface="Noto Sans KR"/>
              </a:rPr>
              <a:t>큰 변환 공수 없이 Java Agent Tool로 변환하여 획기적 비용 절감.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05575" y="4219575"/>
            <a:ext cx="5080635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0F172A"/>
                </a:solidFill>
                <a:latin typeface="Noto Sans KR"/>
              </a:rPr>
              <a:t>대규모 시스템 통합 및 안정적 운영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05575" y="4505325"/>
            <a:ext cx="48387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334155"/>
                </a:solidFill>
                <a:latin typeface="Noto Sans KR"/>
              </a:rPr>
              <a:t>초기 프로토타이핑(Python) 대비 대규모 엔터프라이즈 운영 시 Java가 압도적 유리.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00501" y="2124075"/>
            <a:ext cx="1790997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b="1" sz="1050" i="0" u="none">
                <a:solidFill>
                  <a:srgbClr val="38BDF8"/>
                </a:solidFill>
                <a:latin typeface="JetBrains Mono"/>
              </a:rPr>
              <a:t>SUMMARY &amp;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314746" y="2428875"/>
            <a:ext cx="7562507" cy="5619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b="0" sz="3300" i="0" u="none">
                <a:solidFill>
                  <a:srgbClr val="F8FAFC"/>
                </a:solidFill>
                <a:latin typeface="Noto Sans KR Black"/>
              </a:rPr>
              <a:t>제조 AI Agent 아키텍처 구축 기대효과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95500" y="3219450"/>
            <a:ext cx="800100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400"/>
              </a:lnSpc>
            </a:pPr>
            <a:r>
              <a:rPr b="0" sz="1500" i="0" u="none">
                <a:solidFill>
                  <a:srgbClr val="94A3B8"/>
                </a:solidFill>
                <a:latin typeface="Noto Sans KR"/>
              </a:rPr>
              <a:t>바이브 코딩 표준화부터 NordAxe Java 프레임워크 도입까지, 신속한 개발 생산성과 엔터프라이즈 운영 안정성을 동시에 확보합니다.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89275" y="4286250"/>
            <a:ext cx="1475333" cy="447675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7008" y="4286250"/>
            <a:ext cx="1627733" cy="447675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97141" y="4286250"/>
            <a:ext cx="1805582" cy="44767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