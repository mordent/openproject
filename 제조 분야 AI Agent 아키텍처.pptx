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8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7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image" Target="../media/image44.png"/><Relationship Id="rId7" Type="http://schemas.openxmlformats.org/officeDocument/2006/relationships/image" Target="../media/image45.png"/><Relationship Id="rId8" Type="http://schemas.openxmlformats.org/officeDocument/2006/relationships/image" Target="../media/image4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Relationship Id="rId10" Type="http://schemas.openxmlformats.org/officeDocument/2006/relationships/image" Target="../media/image58.png"/><Relationship Id="rId11" Type="http://schemas.openxmlformats.org/officeDocument/2006/relationships/image" Target="../media/image59.png"/><Relationship Id="rId12" Type="http://schemas.openxmlformats.org/officeDocument/2006/relationships/image" Target="../media/image60.png"/><Relationship Id="rId13" Type="http://schemas.openxmlformats.org/officeDocument/2006/relationships/image" Target="../media/image61.png"/><Relationship Id="rId14" Type="http://schemas.openxmlformats.org/officeDocument/2006/relationships/image" Target="../media/image62.png"/><Relationship Id="rId15" Type="http://schemas.openxmlformats.org/officeDocument/2006/relationships/image" Target="../media/image63.png"/><Relationship Id="rId16" Type="http://schemas.openxmlformats.org/officeDocument/2006/relationships/image" Target="../media/image64.png"/><Relationship Id="rId17" Type="http://schemas.openxmlformats.org/officeDocument/2006/relationships/image" Target="../media/image65.png"/><Relationship Id="rId18" Type="http://schemas.openxmlformats.org/officeDocument/2006/relationships/image" Target="../media/image6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0" y="1905000"/>
            <a:ext cx="3810000" cy="304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62000" y="4592835"/>
            <a:ext cx="5715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9525" y="1914525"/>
            <a:ext cx="3790950" cy="3028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760464"/>
            <a:ext cx="6800850" cy="1051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140"/>
              </a:lnSpc>
            </a:pPr>
            <a:r>
              <a:rPr b="0" sz="3450" i="0" u="none">
                <a:solidFill>
                  <a:srgbClr val="F8FAFC"/>
                </a:solidFill>
                <a:latin typeface="Noto Sans KR ExtraBold"/>
              </a:rPr>
              <a:t>제조 분야 AI Agent</a:t>
            </a:r>
            <a:r>
              <a:t>
</a:t>
            </a:r>
            <a:r>
              <a:rPr b="0" sz="3450" i="0" u="none">
                <a:solidFill>
                  <a:srgbClr val="3B82F6"/>
                </a:solidFill>
                <a:latin typeface="Noto Sans KR ExtraBold"/>
              </a:rPr>
              <a:t>아키텍처 구축 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4002285"/>
            <a:ext cx="6477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b="0" sz="1500" i="0" u="none">
                <a:solidFill>
                  <a:srgbClr val="94A3B8"/>
                </a:solidFill>
                <a:latin typeface="Noto Sans KR"/>
              </a:rPr>
              <a:t>개발 Vibe Coding · 기존 소스 품질 관리 · MES Data/Tooling 통합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875" y="2312789"/>
            <a:ext cx="103733" cy="1333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4808" y="2293739"/>
            <a:ext cx="1787574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93C5FD"/>
                </a:solidFill>
                <a:latin typeface="Noto Sans KR SemiBold"/>
              </a:rPr>
              <a:t>제조 엔터프라이즈 AI 시스템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533400"/>
            <a:ext cx="1097280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2563EB"/>
                </a:solidFill>
                <a:latin typeface="Noto Sans KR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762000"/>
            <a:ext cx="1152144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400" i="0" u="none">
                <a:solidFill>
                  <a:srgbClr val="0F172A"/>
                </a:solidFill>
                <a:latin typeface="Noto Sans KR"/>
              </a:rPr>
              <a:t>아키텍처 핵심 3대 추진 축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578893"/>
            <a:ext cx="3505200" cy="2652563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578893"/>
            <a:ext cx="3505200" cy="2652563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0" y="2578893"/>
            <a:ext cx="3505200" cy="2652563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725" y="2883693"/>
            <a:ext cx="381000" cy="3810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1525" y="2883693"/>
            <a:ext cx="381000" cy="3810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5325" y="2883693"/>
            <a:ext cx="381000" cy="381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43025" y="2945606"/>
            <a:ext cx="1841167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Noto Sans KR"/>
              </a:rPr>
              <a:t>1. Vibe Coding 체계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7725" y="3417093"/>
            <a:ext cx="3028950" cy="307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22"/>
              </a:lnSpc>
            </a:pPr>
            <a:r>
              <a:rPr b="1" sz="1275" i="0" u="none">
                <a:solidFill>
                  <a:srgbClr val="334155"/>
                </a:solidFill>
                <a:latin typeface="Noto Sans KR"/>
              </a:rPr>
              <a:t>Inhouse 표준:</a:t>
            </a:r>
            <a:r>
              <a:rPr b="0" sz="1275" i="0" u="none">
                <a:solidFill>
                  <a:srgbClr val="334155"/>
                </a:solidFill>
                <a:latin typeface="Noto Sans KR"/>
              </a:rPr>
              <a:t> Spring 동질성 극대화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725" y="3724721"/>
            <a:ext cx="3028950" cy="307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22"/>
              </a:lnSpc>
            </a:pPr>
            <a:r>
              <a:rPr b="1" sz="1275" i="0" u="none">
                <a:solidFill>
                  <a:srgbClr val="334155"/>
                </a:solidFill>
                <a:latin typeface="Noto Sans KR"/>
              </a:rPr>
              <a:t>설계서 규격:</a:t>
            </a:r>
            <a:r>
              <a:rPr b="0" sz="1275" i="0" u="none">
                <a:solidFill>
                  <a:srgbClr val="334155"/>
                </a:solidFill>
                <a:latin typeface="Noto Sans KR"/>
              </a:rPr>
              <a:t> FE / BE / 설비 IF 양식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7725" y="4032349"/>
            <a:ext cx="3028950" cy="307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22"/>
              </a:lnSpc>
            </a:pPr>
            <a:r>
              <a:rPr b="1" sz="1275" i="0" u="none">
                <a:solidFill>
                  <a:srgbClr val="334155"/>
                </a:solidFill>
                <a:latin typeface="Noto Sans KR"/>
              </a:rPr>
              <a:t>CI/CD 배포:</a:t>
            </a:r>
            <a:r>
              <a:rPr b="0" sz="1275" i="0" u="none">
                <a:solidFill>
                  <a:srgbClr val="334155"/>
                </a:solidFill>
                <a:latin typeface="Noto Sans KR"/>
              </a:rPr>
              <a:t> Agent Commit &amp; 회귀 통제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6825" y="2945606"/>
            <a:ext cx="1989311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Noto Sans KR"/>
              </a:rPr>
              <a:t>2. 기존 소스 품질 관리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525" y="3417093"/>
            <a:ext cx="3028950" cy="307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22"/>
              </a:lnSpc>
            </a:pPr>
            <a:r>
              <a:rPr b="1" sz="1275" i="0" u="none">
                <a:solidFill>
                  <a:srgbClr val="334155"/>
                </a:solidFill>
                <a:latin typeface="Noto Sans KR"/>
              </a:rPr>
              <a:t>Spring 베이스:</a:t>
            </a:r>
            <a:r>
              <a:rPr b="0" sz="1275" i="0" u="none">
                <a:solidFill>
                  <a:srgbClr val="334155"/>
                </a:solidFill>
                <a:latin typeface="Noto Sans KR"/>
              </a:rPr>
              <a:t> 범용성 표준 프레임워크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525" y="3724721"/>
            <a:ext cx="3028950" cy="307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22"/>
              </a:lnSpc>
            </a:pPr>
            <a:r>
              <a:rPr b="1" sz="1275" i="0" u="none">
                <a:solidFill>
                  <a:srgbClr val="334155"/>
                </a:solidFill>
                <a:latin typeface="Noto Sans KR"/>
              </a:rPr>
              <a:t>컨벤션 적용:</a:t>
            </a:r>
            <a:r>
              <a:rPr b="0" sz="1275" i="0" u="none">
                <a:solidFill>
                  <a:srgbClr val="334155"/>
                </a:solidFill>
                <a:latin typeface="Noto Sans KR"/>
              </a:rPr>
              <a:t> 안티패턴 가이드 필수화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525" y="4032349"/>
            <a:ext cx="3028950" cy="307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22"/>
              </a:lnSpc>
            </a:pPr>
            <a:r>
              <a:rPr b="1" sz="1275" i="0" u="none">
                <a:solidFill>
                  <a:srgbClr val="334155"/>
                </a:solidFill>
                <a:latin typeface="Noto Sans KR"/>
              </a:rPr>
              <a:t>로그 Prompt화:</a:t>
            </a:r>
            <a:r>
              <a:rPr b="0" sz="1275" i="0" u="none">
                <a:solidFill>
                  <a:srgbClr val="334155"/>
                </a:solidFill>
                <a:latin typeface="Noto Sans KR"/>
              </a:rPr>
              <a:t> 동작 무결성 자동 검증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10625" y="2964656"/>
            <a:ext cx="1666927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Noto Sans KR"/>
              </a:rPr>
              <a:t>3. MES AI Tooling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5325" y="3417093"/>
            <a:ext cx="3028950" cy="307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22"/>
              </a:lnSpc>
            </a:pPr>
            <a:r>
              <a:rPr b="1" sz="1275" i="0" u="none">
                <a:solidFill>
                  <a:srgbClr val="334155"/>
                </a:solidFill>
                <a:latin typeface="Noto Sans KR"/>
              </a:rPr>
              <a:t>MES 전용 Tool:</a:t>
            </a:r>
            <a:r>
              <a:rPr b="0" sz="1275" i="0" u="none">
                <a:solidFill>
                  <a:srgbClr val="334155"/>
                </a:solidFill>
                <a:latin typeface="Noto Sans KR"/>
              </a:rPr>
              <a:t> WO/LOT/설비/Log 추출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5325" y="3724721"/>
            <a:ext cx="3028950" cy="6152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22"/>
              </a:lnSpc>
            </a:pPr>
            <a:r>
              <a:rPr b="1" sz="1275" i="0" u="none">
                <a:solidFill>
                  <a:srgbClr val="334155"/>
                </a:solidFill>
                <a:latin typeface="Noto Sans KR"/>
              </a:rPr>
              <a:t>Prompt 파이프라인:</a:t>
            </a:r>
            <a:r>
              <a:rPr b="0" sz="1275" i="0" u="none">
                <a:solidFill>
                  <a:srgbClr val="334155"/>
                </a:solidFill>
                <a:latin typeface="Noto Sans KR"/>
              </a:rPr>
              <a:t> JPA Entity JSON 연동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5325" y="4339976"/>
            <a:ext cx="3028950" cy="6152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22"/>
              </a:lnSpc>
            </a:pPr>
            <a:r>
              <a:rPr b="1" sz="1275" i="0" u="none">
                <a:solidFill>
                  <a:srgbClr val="334155"/>
                </a:solidFill>
                <a:latin typeface="Noto Sans KR"/>
              </a:rPr>
              <a:t>LLM 유효성:</a:t>
            </a:r>
            <a:r>
              <a:rPr b="0" sz="1275" i="0" u="none">
                <a:solidFill>
                  <a:srgbClr val="334155"/>
                </a:solidFill>
                <a:latin typeface="Noto Sans KR"/>
              </a:rPr>
              <a:t> 통계 관리 및 프롬프트 고도화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1401" y="2988468"/>
            <a:ext cx="133498" cy="17145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05201" y="2988468"/>
            <a:ext cx="133498" cy="17145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39001" y="2988468"/>
            <a:ext cx="133498" cy="1714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533400"/>
            <a:ext cx="1097280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2563EB"/>
                </a:solidFill>
                <a:latin typeface="Noto Sans KR"/>
              </a:rPr>
              <a:t>DEVELOPMENT STANDARDS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762000"/>
            <a:ext cx="1152144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400" i="0" u="none">
                <a:solidFill>
                  <a:srgbClr val="0F172A"/>
                </a:solidFill>
                <a:latin typeface="Noto Sans KR"/>
              </a:rPr>
              <a:t>Inhouse 프레임워크 &amp; 개발 안티패턴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947987"/>
            <a:ext cx="3505200" cy="19145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2947987"/>
            <a:ext cx="3505200" cy="19145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7200" y="2947987"/>
            <a:ext cx="3505200" cy="191452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5" y="3224212"/>
            <a:ext cx="419100" cy="4191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1525" y="3224212"/>
            <a:ext cx="419100" cy="4191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5325" y="3224212"/>
            <a:ext cx="419100" cy="4191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7725" y="3795712"/>
            <a:ext cx="3180397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Noto Sans KR"/>
              </a:rPr>
              <a:t>Spring 동질성 확보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7725" y="4129087"/>
            <a:ext cx="30289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Noto Sans KR"/>
              </a:rPr>
              <a:t>AI 정확도 급상승 및 토큰 소모 최적화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525" y="3795712"/>
            <a:ext cx="3180397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Noto Sans KR"/>
              </a:rPr>
              <a:t>코딩 컨벤션 정의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525" y="4129087"/>
            <a:ext cx="30289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Noto Sans KR"/>
              </a:rPr>
              <a:t>언어·라이브러리 및 비즈니스 룰 규격화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5325" y="3795712"/>
            <a:ext cx="3180397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9F1239"/>
                </a:solidFill>
                <a:latin typeface="Noto Sans KR"/>
              </a:rPr>
              <a:t>안티패턴 목록 통제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5325" y="4129087"/>
            <a:ext cx="30289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C0519"/>
                </a:solidFill>
                <a:latin typeface="Noto Sans KR"/>
              </a:rPr>
              <a:t>라이브러리 오용 및 리소스 남발 자동 차단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3158" y="3338512"/>
            <a:ext cx="148232" cy="1905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16958" y="3338512"/>
            <a:ext cx="148232" cy="1905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50758" y="3338512"/>
            <a:ext cx="148232" cy="190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533400"/>
            <a:ext cx="1097280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2563EB"/>
                </a:solidFill>
                <a:latin typeface="Noto Sans KR"/>
              </a:rPr>
              <a:t>DOCUMENTATION &amp;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762000"/>
            <a:ext cx="1152144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400" i="0" u="none">
                <a:solidFill>
                  <a:srgbClr val="0F172A"/>
                </a:solidFill>
                <a:latin typeface="Noto Sans KR"/>
              </a:rPr>
              <a:t>설계서 정형화 및 Git 브랜치 전략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866132"/>
            <a:ext cx="5353050" cy="207808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9350" y="2866132"/>
            <a:ext cx="5353050" cy="20780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5825" y="3142357"/>
            <a:ext cx="5040630" cy="257175"/>
          </a:xfrm>
          <a:prstGeom prst="rect">
            <a:avLst/>
          </a:prstGeom>
          <a:noFill/>
        </p:spPr>
        <p:txBody>
          <a:bodyPr wrap="square" lIns="224432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Noto Sans KR"/>
              </a:rPr>
              <a:t>정형화 설계서 3종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05575" y="3142357"/>
            <a:ext cx="5040630" cy="257175"/>
          </a:xfrm>
          <a:prstGeom prst="rect">
            <a:avLst/>
          </a:prstGeom>
          <a:noFill/>
        </p:spPr>
        <p:txBody>
          <a:bodyPr wrap="square" lIns="224432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Noto Sans KR"/>
              </a:rPr>
              <a:t>Git 저장소 &amp; Agent Commit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825" y="3170932"/>
            <a:ext cx="148232" cy="1905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575" y="3170932"/>
            <a:ext cx="148232" cy="190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85825" y="3551932"/>
            <a:ext cx="4800600" cy="308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29"/>
              </a:lnSpc>
            </a:pPr>
            <a:r>
              <a:rPr b="1" sz="1350" i="0" u="none">
                <a:solidFill>
                  <a:srgbClr val="334155"/>
                </a:solidFill>
                <a:latin typeface="Noto Sans KR"/>
              </a:rPr>
              <a:t>FE 설계서:</a:t>
            </a:r>
            <a:r>
              <a:rPr b="0" sz="1350" i="0" u="none">
                <a:solidFill>
                  <a:srgbClr val="334155"/>
                </a:solidFill>
                <a:latin typeface="Noto Sans KR"/>
              </a:rPr>
              <a:t> UI/UX 및 백엔드 통신 스펙 정의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825" y="3955702"/>
            <a:ext cx="4800600" cy="308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29"/>
              </a:lnSpc>
            </a:pPr>
            <a:r>
              <a:rPr b="1" sz="1350" i="0" u="none">
                <a:solidFill>
                  <a:srgbClr val="334155"/>
                </a:solidFill>
                <a:latin typeface="Noto Sans KR"/>
              </a:rPr>
              <a:t>BE 설계서:</a:t>
            </a:r>
            <a:r>
              <a:rPr b="0" sz="1350" i="0" u="none">
                <a:solidFill>
                  <a:srgbClr val="334155"/>
                </a:solidFill>
                <a:latin typeface="Noto Sans KR"/>
              </a:rPr>
              <a:t> Data 처리 순서 및 통신 규격 명시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5825" y="4359473"/>
            <a:ext cx="4800600" cy="308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29"/>
              </a:lnSpc>
            </a:pPr>
            <a:r>
              <a:rPr b="1" sz="1350" i="0" u="none">
                <a:solidFill>
                  <a:srgbClr val="334155"/>
                </a:solidFill>
                <a:latin typeface="Noto Sans KR"/>
              </a:rPr>
              <a:t>인터페이스:</a:t>
            </a:r>
            <a:r>
              <a:rPr b="0" sz="1350" i="0" u="none">
                <a:solidFill>
                  <a:srgbClr val="334155"/>
                </a:solidFill>
                <a:latin typeface="Noto Sans KR"/>
              </a:rPr>
              <a:t> 설비 및 타 시스템 연동 스펙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5575" y="3551932"/>
            <a:ext cx="4800600" cy="308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29"/>
              </a:lnSpc>
            </a:pPr>
            <a:r>
              <a:rPr b="1" sz="1350" i="0" u="none">
                <a:solidFill>
                  <a:srgbClr val="334155"/>
                </a:solidFill>
                <a:latin typeface="Noto Sans KR"/>
              </a:rPr>
              <a:t>영역 분리:</a:t>
            </a:r>
            <a:r>
              <a:rPr b="0" sz="1350" i="0" u="none">
                <a:solidFill>
                  <a:srgbClr val="334155"/>
                </a:solidFill>
                <a:latin typeface="Noto Sans KR"/>
              </a:rPr>
              <a:t> 문서/소스/설정 및 feature/dev/master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5575" y="3955702"/>
            <a:ext cx="4800600" cy="308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29"/>
              </a:lnSpc>
            </a:pPr>
            <a:r>
              <a:rPr b="1" sz="1350" i="0" u="none">
                <a:solidFill>
                  <a:srgbClr val="334155"/>
                </a:solidFill>
                <a:latin typeface="Noto Sans KR"/>
              </a:rPr>
              <a:t>안전장치:</a:t>
            </a:r>
            <a:r>
              <a:rPr b="0" sz="1350" i="0" u="none">
                <a:solidFill>
                  <a:srgbClr val="334155"/>
                </a:solidFill>
                <a:latin typeface="Noto Sans KR"/>
              </a:rPr>
              <a:t> Main 직접 커밋 차단 및 Merge 승인제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5575" y="4359473"/>
            <a:ext cx="4800600" cy="308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29"/>
              </a:lnSpc>
            </a:pPr>
            <a:r>
              <a:rPr b="1" sz="1350" i="0" u="none">
                <a:solidFill>
                  <a:srgbClr val="334155"/>
                </a:solidFill>
                <a:latin typeface="Noto Sans KR"/>
              </a:rPr>
              <a:t>Agent Commit:</a:t>
            </a:r>
            <a:r>
              <a:rPr b="0" sz="1350" i="0" u="none">
                <a:solidFill>
                  <a:srgbClr val="334155"/>
                </a:solidFill>
                <a:latin typeface="Noto Sans KR"/>
              </a:rPr>
              <a:t> 변경이력 단위 커밋 자동화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533400"/>
            <a:ext cx="1097280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2563EB"/>
                </a:solidFill>
                <a:latin typeface="Noto Sans KR"/>
              </a:rPr>
              <a:t>CI/CD &amp; REGRESSION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762000"/>
            <a:ext cx="1152144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400" i="0" u="none">
                <a:solidFill>
                  <a:srgbClr val="0F172A"/>
                </a:solidFill>
                <a:latin typeface="Noto Sans KR"/>
              </a:rPr>
              <a:t>검증·회귀 및 CI/CD 배포 파이프라인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262312"/>
            <a:ext cx="2425600" cy="12858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8616" y="3262312"/>
            <a:ext cx="2425600" cy="12858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7633" y="3262312"/>
            <a:ext cx="2425600" cy="12858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56650" y="3262312"/>
            <a:ext cx="2425600" cy="128587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87600" y="3829050"/>
            <a:ext cx="118616" cy="1524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6617" y="3829050"/>
            <a:ext cx="118616" cy="1524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5634" y="3829050"/>
            <a:ext cx="118616" cy="152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7725" y="3500437"/>
            <a:ext cx="1949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2563EB"/>
                </a:solidFill>
                <a:latin typeface="Noto Sans KR ExtraBold"/>
              </a:rPr>
              <a:t>STEP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725" y="3748087"/>
            <a:ext cx="2046818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Noto Sans KR"/>
              </a:rPr>
              <a:t>Feature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7725" y="4081462"/>
            <a:ext cx="19493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Noto Sans KR"/>
              </a:rPr>
              <a:t>단위 기능 검증 완료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6741" y="3500437"/>
            <a:ext cx="1949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2563EB"/>
                </a:solidFill>
                <a:latin typeface="Noto Sans KR ExtraBold"/>
              </a:rPr>
              <a:t>STEP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6741" y="3748087"/>
            <a:ext cx="2046818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Noto Sans KR"/>
              </a:rPr>
              <a:t>Dev 배포 &amp; 테스트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96741" y="4081462"/>
            <a:ext cx="19493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Noto Sans KR"/>
              </a:rPr>
              <a:t>CI/CD로 개발서버 배포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5758" y="3500437"/>
            <a:ext cx="1949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E11D48"/>
                </a:solidFill>
                <a:latin typeface="Noto Sans KR ExtraBold"/>
              </a:rPr>
              <a:t>FAILSAFE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5758" y="3748087"/>
            <a:ext cx="2046818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9F1239"/>
                </a:solidFill>
                <a:latin typeface="Noto Sans KR"/>
              </a:rPr>
              <a:t>산출물 회귀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5758" y="4081462"/>
            <a:ext cx="19493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C0519"/>
                </a:solidFill>
                <a:latin typeface="Noto Sans KR"/>
              </a:rPr>
              <a:t>미충족 시 Feature 삭제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4775" y="3500437"/>
            <a:ext cx="1949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16A34A"/>
                </a:solidFill>
                <a:latin typeface="Noto Sans KR ExtraBold"/>
              </a:rPr>
              <a:t>STEP 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4775" y="3748087"/>
            <a:ext cx="2046818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14532D"/>
                </a:solidFill>
                <a:latin typeface="Noto Sans KR"/>
              </a:rPr>
              <a:t>운영서버 배포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4775" y="4081462"/>
            <a:ext cx="19493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14532D"/>
                </a:solidFill>
                <a:latin typeface="Noto Sans KR"/>
              </a:rPr>
              <a:t>검증 Commit 최종 반영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533400"/>
            <a:ext cx="1097280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D97706"/>
                </a:solidFill>
                <a:latin typeface="Noto Sans KR"/>
              </a:rPr>
              <a:t>LEGACY CODE QUALITY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762000"/>
            <a:ext cx="1152144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400" i="0" u="none">
                <a:solidFill>
                  <a:srgbClr val="0F172A"/>
                </a:solidFill>
                <a:latin typeface="Noto Sans KR"/>
              </a:rPr>
              <a:t>기존/레거시 소스 품질 관리 전략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967037"/>
            <a:ext cx="3505200" cy="18764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2967037"/>
            <a:ext cx="3505200" cy="18764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7200" y="2967037"/>
            <a:ext cx="3505200" cy="187642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825" y="3243262"/>
            <a:ext cx="381000" cy="3810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9625" y="3243262"/>
            <a:ext cx="381000" cy="3810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3425" y="3243262"/>
            <a:ext cx="381000" cy="381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85825" y="3776662"/>
            <a:ext cx="3100387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Noto Sans KR"/>
              </a:rPr>
              <a:t>1. Spring 베이스 표준화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825" y="4110037"/>
            <a:ext cx="29527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Noto Sans KR"/>
              </a:rPr>
              <a:t>범용성 높은 프레임워크 기반으로 구조 이식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9625" y="3776662"/>
            <a:ext cx="3100387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Noto Sans KR"/>
              </a:rPr>
              <a:t>2. 컨벤션·안티패턴 강제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9625" y="4110037"/>
            <a:ext cx="2952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Noto Sans KR"/>
              </a:rPr>
              <a:t>기존 소스 가이드라인 필수 적용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3425" y="3776662"/>
            <a:ext cx="3100387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Noto Sans KR"/>
              </a:rPr>
              <a:t>3. 로그 기반 Prompt 검증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3425" y="4110037"/>
            <a:ext cx="29527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Noto Sans KR"/>
              </a:rPr>
              <a:t>실행 로그 프롬프트 변환으로 동작 무결성 확보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9501" y="3348037"/>
            <a:ext cx="133498" cy="17145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43301" y="3348037"/>
            <a:ext cx="133498" cy="17145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7101" y="3348037"/>
            <a:ext cx="133498" cy="1714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533400"/>
            <a:ext cx="1097280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2563EB"/>
                </a:solidFill>
                <a:latin typeface="Noto Sans KR"/>
              </a:rPr>
              <a:t>MES TOOL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762000"/>
            <a:ext cx="1152144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400" i="0" u="none">
                <a:solidFill>
                  <a:srgbClr val="0F172A"/>
                </a:solidFill>
                <a:latin typeface="Noto Sans KR"/>
              </a:rPr>
              <a:t>MES 핵심 Data &amp; Log 추출 Tool 개발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804219"/>
            <a:ext cx="5334000" cy="2201912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2804219"/>
            <a:ext cx="5334000" cy="22019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3137594"/>
            <a:ext cx="177849" cy="2286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1300" y="3137594"/>
            <a:ext cx="177849" cy="22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44649" y="3109019"/>
            <a:ext cx="2118546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0F172A"/>
                </a:solidFill>
                <a:latin typeface="Noto Sans KR"/>
              </a:rPr>
              <a:t>MES 핵심 DATA 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3547169"/>
            <a:ext cx="4686300" cy="308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29"/>
              </a:lnSpc>
            </a:pPr>
            <a:r>
              <a:rPr b="1" sz="1350" i="0" u="none">
                <a:solidFill>
                  <a:srgbClr val="334155"/>
                </a:solidFill>
                <a:latin typeface="Noto Sans KR"/>
              </a:rPr>
              <a:t>WO / LOT:</a:t>
            </a:r>
            <a:r>
              <a:rPr b="0" sz="1350" i="0" u="none">
                <a:solidFill>
                  <a:srgbClr val="334155"/>
                </a:solidFill>
                <a:latin typeface="Noto Sans KR"/>
              </a:rPr>
              <a:t> 작업지시 및 로트 이력 연동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969990"/>
            <a:ext cx="4686300" cy="308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29"/>
              </a:lnSpc>
            </a:pPr>
            <a:r>
              <a:rPr b="1" sz="1350" i="0" u="none">
                <a:solidFill>
                  <a:srgbClr val="334155"/>
                </a:solidFill>
                <a:latin typeface="Noto Sans KR"/>
              </a:rPr>
              <a:t>EQUIPMENT / PROCESS:</a:t>
            </a:r>
            <a:r>
              <a:rPr b="0" sz="1350" i="0" u="none">
                <a:solidFill>
                  <a:srgbClr val="334155"/>
                </a:solidFill>
                <a:latin typeface="Noto Sans KR"/>
              </a:rPr>
              <a:t> 설비 및 공정 상태 조회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4392810"/>
            <a:ext cx="4686300" cy="308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29"/>
              </a:lnSpc>
            </a:pPr>
            <a:r>
              <a:rPr b="1" sz="1350" i="0" u="none">
                <a:solidFill>
                  <a:srgbClr val="334155"/>
                </a:solidFill>
                <a:latin typeface="Noto Sans KR"/>
              </a:rPr>
              <a:t>TRACK IN-OUT:</a:t>
            </a:r>
            <a:r>
              <a:rPr b="0" sz="1350" i="0" u="none">
                <a:solidFill>
                  <a:srgbClr val="334155"/>
                </a:solidFill>
                <a:latin typeface="Noto Sans KR"/>
              </a:rPr>
              <a:t> 공정 투입·체크아웃 실시간 연계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83449" y="3109019"/>
            <a:ext cx="2574853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0F172A"/>
                </a:solidFill>
                <a:latin typeface="Noto Sans KR"/>
              </a:rPr>
              <a:t>인터페이스 Log 추출 Tool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1300" y="3547169"/>
            <a:ext cx="4686300" cy="308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29"/>
              </a:lnSpc>
            </a:pPr>
            <a:r>
              <a:rPr b="1" sz="1350" i="0" u="none">
                <a:solidFill>
                  <a:srgbClr val="334155"/>
                </a:solidFill>
                <a:latin typeface="Noto Sans KR"/>
              </a:rPr>
              <a:t>설비 통신 Log:</a:t>
            </a:r>
            <a:r>
              <a:rPr b="0" sz="1350" i="0" u="none">
                <a:solidFill>
                  <a:srgbClr val="334155"/>
                </a:solidFill>
                <a:latin typeface="Noto Sans KR"/>
              </a:rPr>
              <a:t> 설비 데이터 수집 이력 자동 추출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1300" y="3969990"/>
            <a:ext cx="4686300" cy="308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29"/>
              </a:lnSpc>
            </a:pPr>
            <a:r>
              <a:rPr b="1" sz="1350" i="0" u="none">
                <a:solidFill>
                  <a:srgbClr val="334155"/>
                </a:solidFill>
                <a:latin typeface="Noto Sans KR"/>
              </a:rPr>
              <a:t>타 시스템 IF:</a:t>
            </a:r>
            <a:r>
              <a:rPr b="0" sz="1350" i="0" u="none">
                <a:solidFill>
                  <a:srgbClr val="334155"/>
                </a:solidFill>
                <a:latin typeface="Noto Sans KR"/>
              </a:rPr>
              <a:t> 연계 통신 규격 스펙 기반 추출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1300" y="4392810"/>
            <a:ext cx="4686300" cy="308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29"/>
              </a:lnSpc>
            </a:pPr>
            <a:r>
              <a:rPr b="1" sz="1350" i="0" u="none">
                <a:solidFill>
                  <a:srgbClr val="334155"/>
                </a:solidFill>
                <a:latin typeface="Noto Sans KR"/>
              </a:rPr>
              <a:t>Agent 전용 Tooling:</a:t>
            </a:r>
            <a:r>
              <a:rPr b="0" sz="1350" i="0" u="none">
                <a:solidFill>
                  <a:srgbClr val="334155"/>
                </a:solidFill>
                <a:latin typeface="Noto Sans KR"/>
              </a:rPr>
              <a:t> 원클릭 진단 및 분석 지원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533400"/>
            <a:ext cx="1097280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2563EB"/>
                </a:solidFill>
                <a:latin typeface="Noto Sans KR"/>
              </a:rPr>
              <a:t>PROMPT DATA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762000"/>
            <a:ext cx="1152144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400" i="0" u="none">
                <a:solidFill>
                  <a:srgbClr val="0F172A"/>
                </a:solidFill>
                <a:latin typeface="Noto Sans KR"/>
              </a:rPr>
              <a:t>Prompt 데이터 자동화 &amp; GUID/Alarm 관리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967037"/>
            <a:ext cx="3505200" cy="18764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2967037"/>
            <a:ext cx="3505200" cy="18764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7200" y="2967037"/>
            <a:ext cx="3505200" cy="187642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825" y="3243262"/>
            <a:ext cx="381000" cy="3810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9625" y="3243262"/>
            <a:ext cx="381000" cy="3810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3425" y="3243262"/>
            <a:ext cx="381000" cy="381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85825" y="3776662"/>
            <a:ext cx="3100387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Noto Sans KR"/>
              </a:rPr>
              <a:t>JPA / JSON 자동 매핑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825" y="4110037"/>
            <a:ext cx="2952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Noto Sans KR"/>
              </a:rPr>
              <a:t>Column명과 Key 일치 기반 DB 저장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9625" y="3776662"/>
            <a:ext cx="3100387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Noto Sans KR"/>
              </a:rPr>
              <a:t>GUID 부여 및 주기 관리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9625" y="4110037"/>
            <a:ext cx="2952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Noto Sans KR"/>
              </a:rPr>
              <a:t>실행/보관주기 및 공유 프롬프트 관리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3425" y="3776662"/>
            <a:ext cx="3100387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Noto Sans KR"/>
              </a:rPr>
              <a:t>시각화 &amp; Alarm 연동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3425" y="4110037"/>
            <a:ext cx="29527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Noto Sans KR"/>
              </a:rPr>
              <a:t>라이브러리 연동 및 이상 감지 알람 설정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9501" y="3348037"/>
            <a:ext cx="133498" cy="17145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43301" y="3348037"/>
            <a:ext cx="133498" cy="17145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7101" y="3348037"/>
            <a:ext cx="133498" cy="1714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533400"/>
            <a:ext cx="1097280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2563EB"/>
                </a:solidFill>
                <a:latin typeface="Noto Sans KR"/>
              </a:rPr>
              <a:t>PROMPT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762000"/>
            <a:ext cx="1152144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400" i="0" u="none">
                <a:solidFill>
                  <a:srgbClr val="0F172A"/>
                </a:solidFill>
                <a:latin typeface="Noto Sans KR"/>
              </a:rPr>
              <a:t>LLM 분석 및 프롬프트 엔지니어링 고도화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033712"/>
            <a:ext cx="4724400" cy="17430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2952750"/>
            <a:ext cx="5943600" cy="8763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8800" y="3981450"/>
            <a:ext cx="5943600" cy="8763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90600" y="3414712"/>
            <a:ext cx="39624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800"/>
              </a:lnSpc>
            </a:pPr>
            <a:r>
              <a:rPr b="0" sz="4800" i="0" u="none">
                <a:solidFill>
                  <a:srgbClr val="2563EB"/>
                </a:solidFill>
                <a:latin typeface="Noto Sans KR ExtraBold"/>
              </a:rPr>
              <a:t>AI 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4138612"/>
            <a:ext cx="396240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1500" i="0" u="none">
                <a:solidFill>
                  <a:srgbClr val="1E40AF"/>
                </a:solidFill>
                <a:latin typeface="Noto Sans KR"/>
              </a:rPr>
              <a:t>프롬프트 자체 유효성 평가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05500" y="3143250"/>
            <a:ext cx="57207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KR"/>
              </a:rPr>
              <a:t>프롬프트 유효성 &amp; 사용 통계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05500" y="3409950"/>
            <a:ext cx="54483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Noto Sans KR"/>
              </a:rPr>
              <a:t>LLM 기반 분석 모델 발굴 및 활용 빈도 관리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05500" y="4171950"/>
            <a:ext cx="57207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KR"/>
              </a:rPr>
              <a:t>지속적 프롬프트 고도화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05500" y="4438650"/>
            <a:ext cx="54483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Noto Sans KR"/>
              </a:rPr>
              <a:t>분석 데이터 무결성 검증을 통한 파이프라인 최적화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143000"/>
            <a:ext cx="10972800" cy="5295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419100"/>
            <a:ext cx="10972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2563EB"/>
                </a:solidFill>
                <a:latin typeface="Noto Sans KR"/>
              </a:rPr>
              <a:t>ARCHITECTURE BLUEPRINT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" y="4114800"/>
            <a:ext cx="10496550" cy="381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628650"/>
            <a:ext cx="1152144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100" i="0" u="none">
                <a:solidFill>
                  <a:srgbClr val="0F172A"/>
                </a:solidFill>
                <a:latin typeface="Noto Sans KR"/>
              </a:rPr>
              <a:t>제조 AI Agent 종합 아키텍처 구성도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5" y="3086100"/>
            <a:ext cx="1737866" cy="8953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9824" y="3086100"/>
            <a:ext cx="2062608" cy="8953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36666" y="3095625"/>
            <a:ext cx="1737866" cy="8763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8765" y="3095625"/>
            <a:ext cx="2043558" cy="8763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06557" y="3095625"/>
            <a:ext cx="1737866" cy="8763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23132" y="4219575"/>
            <a:ext cx="1338857" cy="171450"/>
          </a:xfrm>
          <a:prstGeom prst="rect">
            <a:avLst/>
          </a:prstGeom>
          <a:noFill/>
        </p:spPr>
        <p:txBody>
          <a:bodyPr wrap="square" lIns="160883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475569"/>
                </a:solidFill>
                <a:latin typeface="Noto Sans KR SemiBold"/>
              </a:rPr>
              <a:t>안티패턴 자동 검증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9102" y="4219575"/>
            <a:ext cx="2316807" cy="171450"/>
          </a:xfrm>
          <a:prstGeom prst="rect">
            <a:avLst/>
          </a:prstGeom>
          <a:noFill/>
        </p:spPr>
        <p:txBody>
          <a:bodyPr wrap="square" lIns="160883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475569"/>
                </a:solidFill>
                <a:latin typeface="Noto Sans KR SemiBold"/>
              </a:rPr>
              <a:t>레거시 소스 로그 기반 Prompt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3023" y="4219575"/>
            <a:ext cx="2235547" cy="171450"/>
          </a:xfrm>
          <a:prstGeom prst="rect">
            <a:avLst/>
          </a:prstGeom>
          <a:noFill/>
        </p:spPr>
        <p:txBody>
          <a:bodyPr wrap="square" lIns="160883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475569"/>
                </a:solidFill>
                <a:latin typeface="Noto Sans KR SemiBold"/>
              </a:rPr>
              <a:t>검증 실패 시 Feature 삭제 및 회귀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80841" y="3476625"/>
            <a:ext cx="103733" cy="13335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37683" y="3476625"/>
            <a:ext cx="103733" cy="13335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69782" y="3476625"/>
            <a:ext cx="103733" cy="13335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07574" y="3476625"/>
            <a:ext cx="103733" cy="13335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23132" y="4238625"/>
            <a:ext cx="103733" cy="13335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89102" y="4238625"/>
            <a:ext cx="103733" cy="13335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33023" y="4238625"/>
            <a:ext cx="103733" cy="1333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14292" y="3467100"/>
            <a:ext cx="1604731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1125" i="0" u="none">
                <a:solidFill>
                  <a:srgbClr val="0F172A"/>
                </a:solidFill>
                <a:latin typeface="Noto Sans KR"/>
              </a:rPr>
              <a:t>설계 규격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2500" y="3667125"/>
            <a:ext cx="1528316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975" i="0" u="none">
                <a:solidFill>
                  <a:srgbClr val="64748B"/>
                </a:solidFill>
                <a:latin typeface="Noto Sans KR"/>
              </a:rPr>
              <a:t>FE / BE / 설비 IF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48273" y="3476625"/>
            <a:ext cx="1925709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1125" i="0" u="none">
                <a:solidFill>
                  <a:srgbClr val="1E40AF"/>
                </a:solidFill>
                <a:latin typeface="Noto Sans KR"/>
              </a:rPr>
              <a:t>Vibe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4124" y="3657600"/>
            <a:ext cx="1834008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975" i="0" u="none">
                <a:solidFill>
                  <a:srgbClr val="3B82F6"/>
                </a:solidFill>
                <a:latin typeface="Noto Sans KR"/>
              </a:rPr>
              <a:t>Spring Inhouse 표준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233" y="3476625"/>
            <a:ext cx="1604731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1125" i="0" u="none">
                <a:solidFill>
                  <a:srgbClr val="0F172A"/>
                </a:solidFill>
                <a:latin typeface="Noto Sans KR"/>
              </a:rPr>
              <a:t>Git / CI/CD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1441" y="3657600"/>
            <a:ext cx="1528316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975" i="0" u="none">
                <a:solidFill>
                  <a:srgbClr val="64748B"/>
                </a:solidFill>
                <a:latin typeface="Noto Sans KR"/>
              </a:rPr>
              <a:t>Dev 배포 &amp; Prod 반영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27690" y="3476625"/>
            <a:ext cx="1925709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1125" i="0" u="none">
                <a:solidFill>
                  <a:srgbClr val="14532D"/>
                </a:solidFill>
                <a:latin typeface="Noto Sans KR"/>
              </a:rPr>
              <a:t>MES Tools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73540" y="3657600"/>
            <a:ext cx="1834008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975" i="0" u="none">
                <a:solidFill>
                  <a:srgbClr val="16A34A"/>
                </a:solidFill>
                <a:latin typeface="Noto Sans KR"/>
              </a:rPr>
              <a:t>WO / LOT / Log 추출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3124" y="3476625"/>
            <a:ext cx="1604731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1125" i="0" u="none">
                <a:solidFill>
                  <a:srgbClr val="0F172A"/>
                </a:solidFill>
                <a:latin typeface="Noto Sans KR"/>
              </a:rPr>
              <a:t>LLM Pipeline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11332" y="3657600"/>
            <a:ext cx="1528316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975" i="0" u="none">
                <a:solidFill>
                  <a:srgbClr val="64748B"/>
                </a:solidFill>
                <a:latin typeface="Noto Sans KR"/>
              </a:rPr>
              <a:t>GUID &amp; 통계 분석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649908" y="3238500"/>
            <a:ext cx="133498" cy="171450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44379" y="3248025"/>
            <a:ext cx="133498" cy="171450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038850" y="3248025"/>
            <a:ext cx="133498" cy="171450"/>
          </a:xfrm>
          <a:prstGeom prst="rect">
            <a:avLst/>
          </a:prstGeom>
        </p:spPr>
      </p:pic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223795" y="3248025"/>
            <a:ext cx="133498" cy="171450"/>
          </a:xfrm>
          <a:prstGeom prst="rect">
            <a:avLst/>
          </a:prstGeom>
        </p:spPr>
      </p:pic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408741" y="3248025"/>
            <a:ext cx="133498" cy="1714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1707713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1E293B"/>
                </a:solidFill>
                <a:latin typeface="Noto Sans KR"/>
              </a:rPr>
              <a:t>Image Sources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995362"/>
            <a:ext cx="857250" cy="4762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66875" y="981075"/>
            <a:ext cx="99536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1E293B"/>
                </a:solidFill>
                <a:latin typeface="Noto Sans KR"/>
              </a:rPr>
              <a:t>https://cdn.prod.website-files.com/63df0b451693d106cbf84530/640ec2d9979c11d6ea6ee039_Food%2520Manufacturing%2520Operations%2520Smart%2520Factory%2520Dashboard%2520Example.png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66875" y="1314450"/>
            <a:ext cx="1885652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1E293B"/>
                </a:solidFill>
                <a:latin typeface="Noto Sans KR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Noto Sans KR"/>
              </a:rPr>
              <a:t>www.worximity.com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