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Relationship Id="rId10" Type="http://schemas.openxmlformats.org/officeDocument/2006/relationships/image" Target="../media/image14.png"/><Relationship Id="rId11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Relationship Id="rId8" Type="http://schemas.openxmlformats.org/officeDocument/2006/relationships/image" Target="../media/image2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41.png"/><Relationship Id="rId18" Type="http://schemas.openxmlformats.org/officeDocument/2006/relationships/image" Target="../media/image4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Relationship Id="rId8" Type="http://schemas.openxmlformats.org/officeDocument/2006/relationships/image" Target="../media/image61.png"/><Relationship Id="rId9" Type="http://schemas.openxmlformats.org/officeDocument/2006/relationships/image" Target="../media/image62.png"/><Relationship Id="rId10" Type="http://schemas.openxmlformats.org/officeDocument/2006/relationships/image" Target="../media/image63.png"/><Relationship Id="rId11" Type="http://schemas.openxmlformats.org/officeDocument/2006/relationships/image" Target="../media/image64.png"/><Relationship Id="rId12" Type="http://schemas.openxmlformats.org/officeDocument/2006/relationships/image" Target="../media/image6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Relationship Id="rId5" Type="http://schemas.openxmlformats.org/officeDocument/2006/relationships/image" Target="../media/image78.png"/><Relationship Id="rId6" Type="http://schemas.openxmlformats.org/officeDocument/2006/relationships/image" Target="../media/image79.png"/><Relationship Id="rId7" Type="http://schemas.openxmlformats.org/officeDocument/2006/relationships/image" Target="../media/image8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4642395"/>
            <a:ext cx="9334500" cy="4762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739354"/>
            <a:ext cx="9334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Noto Sans KR Medium"/>
              </a:rPr>
              <a:t>제조 기술 혁신 프레임워크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234654"/>
            <a:ext cx="9801225" cy="1188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b="0" sz="3900" i="0" u="none">
                <a:solidFill>
                  <a:srgbClr val="F8FAFC"/>
                </a:solidFill>
                <a:latin typeface="Noto Sans KR Black"/>
              </a:rPr>
              <a:t>제조 분야 AI Agent</a:t>
            </a:r>
            <a:r>
              <a:t>
</a:t>
            </a:r>
            <a:r>
              <a:rPr b="0" sz="3900" i="0" u="none">
                <a:solidFill>
                  <a:srgbClr val="38BDF8"/>
                </a:solidFill>
                <a:latin typeface="Noto Sans KR Black"/>
              </a:rPr>
              <a:t>아키텍처 구성 및 실행 전략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651795"/>
            <a:ext cx="8001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Noto Sans KR"/>
              </a:rPr>
              <a:t>바이브 코딩 체계, 레거시 소스 품질 관제, MES CSV/RAG 파이프라인 및 NordAxe 프레임워크 도입 전략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739354"/>
            <a:ext cx="3105745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4932908"/>
            <a:ext cx="133498" cy="1714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90748" y="4918620"/>
            <a:ext cx="1608683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CBD5E1"/>
                </a:solidFill>
                <a:latin typeface="Noto Sans KR Medium"/>
              </a:rPr>
              <a:t>바이브 코딩 파이프라인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04232" y="4932908"/>
            <a:ext cx="133498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132980" y="4932908"/>
            <a:ext cx="167699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CBD5E1"/>
                </a:solidFill>
                <a:latin typeface="Noto Sans KR Medium"/>
              </a:rPr>
              <a:t>MES CSV &amp; Vector RAG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14776" y="4932908"/>
            <a:ext cx="133498" cy="171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43525" y="4932908"/>
            <a:ext cx="17621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CBD5E1"/>
                </a:solidFill>
                <a:latin typeface="Noto Sans KR Medium"/>
              </a:rPr>
              <a:t>NordAxe Enterprise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95562"/>
            <a:ext cx="2600325" cy="265747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0425" y="2595562"/>
            <a:ext cx="2600325" cy="26574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250" y="2595562"/>
            <a:ext cx="2600325" cy="26574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2075" y="2595562"/>
            <a:ext cx="2600325" cy="26574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EXECUTIVE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제조 AI Agent 아키텍처 4대 핵심 축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" y="2871787"/>
            <a:ext cx="419100" cy="419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85825" y="3443287"/>
            <a:ext cx="204787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Noto Sans KR"/>
              </a:rPr>
              <a:t>PILLAR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3652837"/>
            <a:ext cx="215026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바이브 코딩 표준화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4024312"/>
            <a:ext cx="2047875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Spring 구조 맞춤 Inhouse 프레임워크 및 3대 표준 설계서 도입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6650" y="2871787"/>
            <a:ext cx="419100" cy="4191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76650" y="3443287"/>
            <a:ext cx="204787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Noto Sans KR"/>
              </a:rPr>
              <a:t>PILLAR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6650" y="3652837"/>
            <a:ext cx="2150268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레거시 소스 관제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6650" y="4024312"/>
            <a:ext cx="2047875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Spring 기반 구조화 및 실행 로그 Prompt화 통한 무결성 검증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7475" y="2871787"/>
            <a:ext cx="419100" cy="4191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7475" y="3443287"/>
            <a:ext cx="204787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Noto Sans KR"/>
              </a:rPr>
              <a:t>PILLAR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7475" y="3652837"/>
            <a:ext cx="2150268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MES CSV &amp; Vector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7475" y="4205287"/>
            <a:ext cx="2047875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핵심 MES 데이터 배치 CSV 변환 및 Postgre/Qdrant RAG 구축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8300" y="2871787"/>
            <a:ext cx="419100" cy="4191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258300" y="3443287"/>
            <a:ext cx="2047875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050" i="0" u="none">
                <a:solidFill>
                  <a:srgbClr val="64748B"/>
                </a:solidFill>
                <a:latin typeface="Noto Sans KR"/>
              </a:rPr>
              <a:t>PILLAR 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8300" y="3652837"/>
            <a:ext cx="2150268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NordAxe Java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3986212"/>
            <a:ext cx="2047875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Java 비즈니스 모듈 직접 활용 및 검증된 MAS 전환 지원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1258" y="2986087"/>
            <a:ext cx="148232" cy="1905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2083" y="2986087"/>
            <a:ext cx="148232" cy="1905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02908" y="2986087"/>
            <a:ext cx="148232" cy="190500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3733" y="2986087"/>
            <a:ext cx="148232" cy="190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650" y="2838450"/>
            <a:ext cx="5619750" cy="21336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647950"/>
            <a:ext cx="5010150" cy="11620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000500"/>
            <a:ext cx="5010150" cy="11620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DEVELOPMENT PHASE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개발 단계: 바이브 코딩 프레임워크 및 표준 규범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6300" y="2857500"/>
            <a:ext cx="474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Inhouse 프레임워크 구조 일치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300" y="3143250"/>
            <a:ext cx="4514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Spring과의 구조적 유사성 극대화로 AI 정확도 향상 및 토큰 소모 최소화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" y="4210050"/>
            <a:ext cx="474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컨벤션 &amp; 안티패턴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" y="4495800"/>
            <a:ext cx="45148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언어·라이브러리 및 비즈니스 룰 규범화, 안티패턴 정의로 불필요한 리소스 제어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50" y="3167062"/>
            <a:ext cx="163115" cy="2095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25815" y="3143250"/>
            <a:ext cx="2333885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FFFFFF"/>
                </a:solidFill>
                <a:latin typeface="Noto Sans KR"/>
              </a:rPr>
              <a:t>표준 3대 설계서 양식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7450" y="3590925"/>
            <a:ext cx="50101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38BDF8"/>
                </a:solidFill>
                <a:latin typeface="Noto Sans KR"/>
              </a:rPr>
              <a:t>프론트엔드 설계서:</a:t>
            </a:r>
            <a:r>
              <a:rPr b="0" sz="1350" i="0" u="none">
                <a:solidFill>
                  <a:srgbClr val="CBD5E1"/>
                </a:solidFill>
                <a:latin typeface="Noto Sans KR"/>
              </a:rPr>
              <a:t> UI/UX 구조 및 백엔드 연동 통신 스펙 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7450" y="4000500"/>
            <a:ext cx="50101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38BDF8"/>
                </a:solidFill>
                <a:latin typeface="Noto Sans KR"/>
              </a:rPr>
              <a:t>백엔드 설계서:</a:t>
            </a:r>
            <a:r>
              <a:rPr b="0" sz="1350" i="0" u="none">
                <a:solidFill>
                  <a:srgbClr val="CBD5E1"/>
                </a:solidFill>
                <a:latin typeface="Noto Sans KR"/>
              </a:rPr>
              <a:t> Data 처리 순서 및 프론트엔드 통신 스펙 명시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7450" y="4410075"/>
            <a:ext cx="5010150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38BDF8"/>
                </a:solidFill>
                <a:latin typeface="Noto Sans KR"/>
              </a:rPr>
              <a:t>인터페이스 설계서:</a:t>
            </a:r>
            <a:r>
              <a:rPr b="0" sz="1350" i="0" u="none">
                <a:solidFill>
                  <a:srgbClr val="CBD5E1"/>
                </a:solidFill>
                <a:latin typeface="Noto Sans KR"/>
              </a:rPr>
              <a:t> 설비 및 외부 타 시스템 통신 스펙 정의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376487"/>
            <a:ext cx="3505200" cy="305752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2376487"/>
            <a:ext cx="3505200" cy="30575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2376487"/>
            <a:ext cx="3505200" cy="30575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DEVELOPMENT PHASE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형상 관리 브랜치 전략 및 CI/CD 안전 배포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2690812"/>
            <a:ext cx="381000" cy="381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3925" y="3224212"/>
            <a:ext cx="302037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저장소 분리 &amp; 권한 제어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725" y="2690812"/>
            <a:ext cx="381000" cy="381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57725" y="3224212"/>
            <a:ext cx="302037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Agent 커밋 &amp; 변경 회귀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1525" y="2690812"/>
            <a:ext cx="381000" cy="381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1525" y="3224212"/>
            <a:ext cx="3020377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단계별 CI/CD 배포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308" y="2786062"/>
            <a:ext cx="148232" cy="1905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23925" y="3595687"/>
            <a:ext cx="28765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영역 분리: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문서, 소스, 설정 분리 관리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925" y="3900487"/>
            <a:ext cx="2876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접근 권한: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개발자·설계자·유지보수자 세분화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925" y="4433887"/>
            <a:ext cx="2876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안전장치: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main 직접 커밋 차단 및 PR 승인 필수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4108" y="2786062"/>
            <a:ext cx="148232" cy="1905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57725" y="3595687"/>
            <a:ext cx="2876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커밋 단위: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산출물 변경 이력 단위 Commit 분리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7725" y="4129087"/>
            <a:ext cx="2876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feature 검증: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결과 검증 후 develop 병합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7725" y="4662487"/>
            <a:ext cx="2876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회귀 처리: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연계 테스트 미만족 시 feature 삭제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7908" y="2786062"/>
            <a:ext cx="148232" cy="1905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391525" y="3595687"/>
            <a:ext cx="2876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개발 배포: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develop 소스+설정 개발서버 자동 배포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1525" y="4129087"/>
            <a:ext cx="2876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통합 테스트: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연계 및 기능 무결성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1525" y="4662487"/>
            <a:ext cx="287655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운영 배포: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검증 완료 commit master 병합 및 Release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285875"/>
            <a:ext cx="10972800" cy="511492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" y="3281362"/>
            <a:ext cx="10496550" cy="7143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725" y="1524000"/>
            <a:ext cx="2095500" cy="5619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" y="5191125"/>
            <a:ext cx="3397299" cy="9715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7424" y="5191125"/>
            <a:ext cx="3397299" cy="9715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47124" y="5191125"/>
            <a:ext cx="3397299" cy="971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457200"/>
            <a:ext cx="10972800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ARCHITECTURE DIAGRAM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66750"/>
            <a:ext cx="11521440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250" i="0" u="none">
                <a:solidFill>
                  <a:srgbClr val="0F172A"/>
                </a:solidFill>
                <a:latin typeface="Noto Sans KR ExtraBold"/>
              </a:rPr>
              <a:t>바이브 코딩 &amp; CI/CD 개발 파이프라인 구성도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81523" y="1590675"/>
            <a:ext cx="7962751" cy="42862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1883" y="2583656"/>
            <a:ext cx="148232" cy="1905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21883" y="4493418"/>
            <a:ext cx="148232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95625" y="1714500"/>
            <a:ext cx="133498" cy="1714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178349" y="1714500"/>
            <a:ext cx="1470124" cy="180975"/>
          </a:xfrm>
          <a:prstGeom prst="rect">
            <a:avLst/>
          </a:prstGeom>
          <a:noFill/>
        </p:spPr>
        <p:txBody>
          <a:bodyPr wrap="square" lIns="168324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1E293B"/>
                </a:solidFill>
                <a:latin typeface="Noto Sans KR SemiBold"/>
              </a:rPr>
              <a:t>Inhouse 프레임워크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32575" y="1714500"/>
            <a:ext cx="922436" cy="180975"/>
          </a:xfrm>
          <a:prstGeom prst="rect">
            <a:avLst/>
          </a:prstGeom>
          <a:noFill/>
        </p:spPr>
        <p:txBody>
          <a:bodyPr wrap="square" lIns="168324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1E293B"/>
                </a:solidFill>
                <a:latin typeface="Noto Sans KR SemiBold"/>
              </a:rPr>
              <a:t>코딩 컨벤션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9113" y="1714500"/>
            <a:ext cx="1208186" cy="180975"/>
          </a:xfrm>
          <a:prstGeom prst="rect">
            <a:avLst/>
          </a:prstGeom>
          <a:noFill/>
        </p:spPr>
        <p:txBody>
          <a:bodyPr wrap="square" lIns="168324" rIns="0" tIns="0" bIns="0" anchor="t">
            <a:spAutoFit/>
          </a:bodyPr>
          <a:lstStyle/>
          <a:p>
            <a:pPr algn="l"/>
            <a:r>
              <a:rPr b="0" sz="1125" i="0" u="none">
                <a:solidFill>
                  <a:srgbClr val="1E293B"/>
                </a:solidFill>
                <a:latin typeface="Noto Sans KR SemiBold"/>
              </a:rPr>
              <a:t>안티패턴 리스트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5850" y="3524250"/>
            <a:ext cx="177849" cy="2286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86676" y="3486150"/>
            <a:ext cx="1203870" cy="3048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204846" y="3486150"/>
            <a:ext cx="901303" cy="3048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9650" y="5381625"/>
            <a:ext cx="30734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Noto Sans KR"/>
              </a:rPr>
              <a:t>feature Branch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9650" y="5657850"/>
            <a:ext cx="307344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Noto Sans KR"/>
              </a:rPr>
              <a:t>테스트 미만족 시 산출물 단계 회귀 및 feature 브랜치 삭제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9349" y="5381625"/>
            <a:ext cx="30734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Noto Sans KR"/>
              </a:rPr>
              <a:t>develop Branch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9349" y="5657850"/>
            <a:ext cx="3073449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Noto Sans KR"/>
              </a:rPr>
              <a:t>소스+설정 병합 배포, 타 시스템 연계 및 통합 테스트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9049" y="5381625"/>
            <a:ext cx="307344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0F172A"/>
                </a:solidFill>
                <a:latin typeface="Noto Sans KR"/>
              </a:rPr>
              <a:t>master Branch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09049" y="5657850"/>
            <a:ext cx="3073449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64748B"/>
                </a:solidFill>
                <a:latin typeface="Noto Sans KR"/>
              </a:rPr>
              <a:t>검증 완료 commit 승인 병합 및 운영 서버 안정적 Release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8349" y="1733550"/>
            <a:ext cx="111174" cy="142875"/>
          </a:xfrm>
          <a:prstGeom prst="rect">
            <a:avLst/>
          </a:prstGeom>
        </p:spPr>
      </p:pic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32575" y="1733550"/>
            <a:ext cx="111174" cy="142875"/>
          </a:xfrm>
          <a:prstGeom prst="rect">
            <a:avLst/>
          </a:prstGeom>
        </p:spPr>
      </p:pic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339113" y="1733550"/>
            <a:ext cx="111174" cy="14287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377999" y="3443287"/>
            <a:ext cx="3111638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0F172A"/>
                </a:solidFill>
                <a:latin typeface="Noto Sans KR"/>
              </a:rPr>
              <a:t>AI Agent 바이브 코딩 엔진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7999" y="3662362"/>
            <a:ext cx="296346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050" i="0" u="none">
                <a:solidFill>
                  <a:srgbClr val="475569"/>
                </a:solidFill>
                <a:latin typeface="Noto Sans KR"/>
              </a:rPr>
              <a:t>산출물 변경 이력 단위 소스코드 및 커밋 자동 생성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41650" y="5381625"/>
            <a:ext cx="641449" cy="200025"/>
          </a:xfrm>
          <a:prstGeom prst="rect">
            <a:avLst/>
          </a:prstGeom>
        </p:spPr>
      </p:pic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08899" y="5381625"/>
            <a:ext cx="723900" cy="200025"/>
          </a:xfrm>
          <a:prstGeom prst="rect">
            <a:avLst/>
          </a:prstGeom>
        </p:spPr>
      </p:pic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541049" y="5381625"/>
            <a:ext cx="641449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65040"/>
            <a:ext cx="5334000" cy="288027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2557462"/>
            <a:ext cx="5334000" cy="26955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25" y="4268985"/>
            <a:ext cx="4705350" cy="76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QUALITY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비(非)바이브 코딩 프로젝트 소스 품질 관제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3255615"/>
            <a:ext cx="4705350" cy="822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60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바이브 코딩으로 제작되지 않은 레거시 또는 외부 개발 소스의 경우에도 범용성이 높고 제어가 용이한 Spring 기반 프레임워크 구조로 표준화합니다.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5" y="2807940"/>
            <a:ext cx="177849" cy="228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074" y="2779365"/>
            <a:ext cx="308038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Spring 베이스 범용 프레임워크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5850" y="4430910"/>
            <a:ext cx="438150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125" i="0" u="none">
                <a:solidFill>
                  <a:srgbClr val="1E40AF"/>
                </a:solidFill>
                <a:latin typeface="Noto Sans KR"/>
              </a:rPr>
              <a:t>필수 준수 사항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" y="4669035"/>
            <a:ext cx="3391495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75" i="0" u="none">
                <a:solidFill>
                  <a:srgbClr val="1E293B"/>
                </a:solidFill>
                <a:latin typeface="Noto Sans KR Medium"/>
              </a:rPr>
              <a:t>코딩 컨벤션 및 리소스 안티패턴 규칙 엄격 적용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62725" y="2900362"/>
            <a:ext cx="177849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4874" y="2871787"/>
            <a:ext cx="3496061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로그 기반 Prompt 품질 무결성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1473" y="3348037"/>
            <a:ext cx="4476601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작성된 소스코드와 MES 핵심 Data/Log 추출 Tool 상호 연동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1473" y="4014787"/>
            <a:ext cx="4476601" cy="51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실행 로그를 프롬프트화하여 소스 품질 및 동작 오류 자동 탐지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1473" y="4681537"/>
            <a:ext cx="4476601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동작 무결성 확인 및 무분별한 메모리/DB 리소스 누수 방지</a:t>
            </a:r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2725" y="3371850"/>
            <a:ext cx="133498" cy="20002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2725" y="4038600"/>
            <a:ext cx="133498" cy="20002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2725" y="4705350"/>
            <a:ext cx="133498" cy="2000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157662"/>
            <a:ext cx="10972800" cy="914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738437"/>
            <a:ext cx="3530649" cy="12287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0749" y="2738437"/>
            <a:ext cx="3530649" cy="12287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1899" y="2738437"/>
            <a:ext cx="3530649" cy="12287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OPERATIONAL AGENT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운영 단계 MES 핵심 데이터 AI Agent Tools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29452" y="4452937"/>
            <a:ext cx="1924347" cy="32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7725" y="2976562"/>
            <a:ext cx="3054399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2563EB"/>
                </a:solidFill>
                <a:latin typeface="Noto Sans KR"/>
              </a:rPr>
              <a:t>WO &amp; LOT Tool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3271837"/>
            <a:ext cx="30543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작업지시(WO) 및 LOT 추적 데이터 추출 및 상태 관제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8874" y="2976562"/>
            <a:ext cx="3054399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2563EB"/>
                </a:solidFill>
                <a:latin typeface="Noto Sans KR"/>
              </a:rPr>
              <a:t>EQUIPMENT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8874" y="3271837"/>
            <a:ext cx="30543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설비 가동 상태, 가동률 및 파라미터 상태 실시간 조회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0024" y="2976562"/>
            <a:ext cx="3054399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2563EB"/>
                </a:solidFill>
                <a:latin typeface="Noto Sans KR"/>
              </a:rPr>
              <a:t>PROCESS &amp; TRACK 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0024" y="3271837"/>
            <a:ext cx="30543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334155"/>
                </a:solidFill>
                <a:latin typeface="Noto Sans KR"/>
              </a:rPr>
              <a:t>공정 순서, Track-In/Out 이력 분석 및 공정 지연 탐지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4481512"/>
            <a:ext cx="207466" cy="2667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98066" y="4386262"/>
            <a:ext cx="5059226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FFFFFF"/>
                </a:solidFill>
                <a:latin typeface="Noto Sans KR"/>
              </a:rPr>
              <a:t>인터페이스 &amp; Log 추출 전용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8066" y="4643437"/>
            <a:ext cx="481831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94A3B8"/>
                </a:solidFill>
                <a:latin typeface="Noto Sans KR"/>
              </a:rPr>
              <a:t>설비·타 시스템 통신 스펙 및 MES 핵심 처리 Execution Log 실시간 추출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538287"/>
            <a:ext cx="2658367" cy="657225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9125" y="1524000"/>
            <a:ext cx="3125390" cy="6858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549" y="1547812"/>
            <a:ext cx="3806725" cy="6381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725" y="5257800"/>
            <a:ext cx="4202459" cy="9048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0684" y="5257800"/>
            <a:ext cx="6103590" cy="9048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457200"/>
            <a:ext cx="10972800" cy="600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ARCHITECTURE DIAGRAM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66750"/>
            <a:ext cx="11521440" cy="390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250" i="0" u="none">
                <a:solidFill>
                  <a:srgbClr val="0F172A"/>
                </a:solidFill>
                <a:latin typeface="Noto Sans KR ExtraBold"/>
              </a:rPr>
              <a:t>MES CSV 변환 &amp; Vector RAG 아키텍처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29176" y="3643312"/>
            <a:ext cx="133498" cy="1714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9650" y="1700212"/>
            <a:ext cx="2334517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975" i="0" u="none">
                <a:solidFill>
                  <a:srgbClr val="64748B"/>
                </a:solidFill>
                <a:latin typeface="Noto Sans KR"/>
              </a:rPr>
              <a:t>SOURCE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8645" y="1843087"/>
            <a:ext cx="1736377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75" i="0" u="none">
                <a:solidFill>
                  <a:srgbClr val="0F172A"/>
                </a:solidFill>
                <a:latin typeface="Noto Sans KR"/>
              </a:rPr>
              <a:t>MES CORE DB &amp; Logs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8492" y="1766887"/>
            <a:ext cx="148232" cy="190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1050" y="1685925"/>
            <a:ext cx="2801540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975" i="0" u="none">
                <a:solidFill>
                  <a:srgbClr val="1E40AF"/>
                </a:solidFill>
                <a:latin typeface="Noto Sans KR"/>
              </a:rPr>
              <a:t>BATCH SCHEDULER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1125" y="1847850"/>
            <a:ext cx="1601390" cy="1809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1" sz="1275" i="0" u="none">
                <a:solidFill>
                  <a:srgbClr val="0F172A"/>
                </a:solidFill>
                <a:latin typeface="Noto Sans KR"/>
              </a:rPr>
              <a:t>주기적 CSV 파일 변환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36916" y="1766887"/>
            <a:ext cx="148232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47750" y="5762625"/>
            <a:ext cx="3802409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475569"/>
                </a:solidFill>
                <a:latin typeface="Noto Sans KR"/>
              </a:rPr>
              <a:t>사용자 대화형 즉시 질의 및 RAG 기반 정교한 대답 생성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709" y="5762625"/>
            <a:ext cx="5703540" cy="2000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1E293B"/>
                </a:solidFill>
                <a:latin typeface="Noto Sans KR"/>
              </a:rPr>
              <a:t>실행/보관 주기 설정, 시각화 라이브러리 연동, 이상 데이터 발생 시 Alarm 발송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7750" y="5495925"/>
            <a:ext cx="118616" cy="152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242566" y="5457825"/>
            <a:ext cx="104028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일반 Prompt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272117" y="5486400"/>
            <a:ext cx="872132" cy="17145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40709" y="5495925"/>
            <a:ext cx="118616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35525" y="5457825"/>
            <a:ext cx="243030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0F172A"/>
                </a:solidFill>
                <a:latin typeface="Noto Sans KR"/>
              </a:rPr>
              <a:t>자동주기 Prompt (GUID 관리)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381250"/>
            <a:ext cx="5314950" cy="304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450" y="2495550"/>
            <a:ext cx="5314950" cy="2819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PROMPT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자동주기 Prompt 관제 및 엔지니어링 고도화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925" y="2695575"/>
            <a:ext cx="381000" cy="381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23925" y="3228975"/>
            <a:ext cx="492061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GUID 기반 DB 메타 관리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1775" y="2809875"/>
            <a:ext cx="381000" cy="381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81775" y="3343275"/>
            <a:ext cx="4920615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프롬프트 엔지니어링 고도화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308" y="2790825"/>
            <a:ext cx="148232" cy="1905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23925" y="3629025"/>
            <a:ext cx="4686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고유 식별자: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모든 자동주기 Prompt에 GUID 부여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925" y="3971925"/>
            <a:ext cx="4686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주기 제어: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실행 주기 및 결과 데이터 보관 주기 세부 설정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925" y="4314825"/>
            <a:ext cx="46863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공유 &amp; 시각화: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공유 프롬프트 및 대시보드 차트 라이브러리 연동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" y="4886325"/>
            <a:ext cx="4686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알람 모니터링: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Data 이상치 감지 시 즉시 Alarm 발송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8158" y="2905125"/>
            <a:ext cx="148232" cy="1905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81775" y="3743325"/>
            <a:ext cx="4686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LLM 자체 분석: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프롬프트 구문 및 응답 유효성 LLM 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1775" y="4086225"/>
            <a:ext cx="4686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사용 통계 관리: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프롬프트별 호출 빈도 및 성공률 통계화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1775" y="4429125"/>
            <a:ext cx="4686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분석 모델 발굴: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데이터 분석 유효성에 따른 모델 지속적 튜닝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1775" y="4772025"/>
            <a:ext cx="46863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350" i="0" u="none">
                <a:solidFill>
                  <a:srgbClr val="334155"/>
                </a:solidFill>
                <a:latin typeface="Noto Sans KR"/>
              </a:rPr>
              <a:t>선순환 구조: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통계 데이터 기반 AI 프롬프트 품질 자동 개선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125" y="2276475"/>
            <a:ext cx="5629275" cy="32575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343150"/>
            <a:ext cx="5000625" cy="14668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000500"/>
            <a:ext cx="5000625" cy="146685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50" y="3067050"/>
            <a:ext cx="5000625" cy="10001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50" y="4219575"/>
            <a:ext cx="5000625" cy="10001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FRAMEWORK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왜 Enterprise NordAxe 프레임워크인가?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7450" y="2590800"/>
            <a:ext cx="5250656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650" i="0" u="none">
                <a:solidFill>
                  <a:srgbClr val="0F172A"/>
                </a:solidFill>
                <a:latin typeface="Noto Sans KR"/>
              </a:rPr>
              <a:t>Enterprise 환경에서의 핵심 가치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825" y="2581275"/>
            <a:ext cx="157608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b="0" sz="4800" i="0" u="none">
                <a:solidFill>
                  <a:srgbClr val="2563EB"/>
                </a:solidFill>
                <a:latin typeface="Noto Sans KR Black"/>
              </a:rPr>
              <a:t>90%+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5825" y="3305175"/>
            <a:ext cx="4448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현재 AI Agent 생태계의 Python 치우침 현상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5825" y="4238625"/>
            <a:ext cx="264348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b="0" sz="4800" i="0" u="none">
                <a:solidFill>
                  <a:srgbClr val="0F172A"/>
                </a:solidFill>
                <a:latin typeface="Noto Sans KR Black"/>
              </a:rPr>
              <a:t>Java / C#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5825" y="4962525"/>
            <a:ext cx="444817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350" i="0" u="none">
                <a:solidFill>
                  <a:srgbClr val="475569"/>
                </a:solidFill>
                <a:latin typeface="Noto Sans KR"/>
              </a:rPr>
              <a:t>실제 기업 Enterprise 시스템의 핵심 인프라 언어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850" y="3219450"/>
            <a:ext cx="4695825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2563EB"/>
                </a:solidFill>
                <a:latin typeface="Noto Sans KR"/>
              </a:rPr>
              <a:t>Java Business 모듈 직접 재활용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850" y="3476625"/>
            <a:ext cx="4695825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75" i="0" u="none">
                <a:solidFill>
                  <a:srgbClr val="334155"/>
                </a:solidFill>
                <a:latin typeface="Noto Sans KR"/>
              </a:rPr>
              <a:t>큰 변환 공수 없이 기존 Java 모듈을 Agent Tool로 전환하여 압도적 비용 절감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850" y="4371975"/>
            <a:ext cx="4695825" cy="2190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75" i="0" u="none">
                <a:solidFill>
                  <a:srgbClr val="2563EB"/>
                </a:solidFill>
                <a:latin typeface="Noto Sans KR"/>
              </a:rPr>
              <a:t>대규모 시스템 통합 및 안정적 운영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850" y="4629150"/>
            <a:ext cx="4695825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75" i="0" u="none">
                <a:solidFill>
                  <a:srgbClr val="334155"/>
                </a:solidFill>
                <a:latin typeface="Noto Sans KR"/>
              </a:rPr>
              <a:t>파이프라인 프로토타이핑(Python)을 넘어 대규모 대용량 운영 체계(Java) 확립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925" y="1485900"/>
            <a:ext cx="5324475" cy="48387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100262"/>
            <a:ext cx="5305425" cy="18383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29087"/>
            <a:ext cx="5305425" cy="15811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533400"/>
            <a:ext cx="109728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200" i="0" u="none">
                <a:solidFill>
                  <a:srgbClr val="2563EB"/>
                </a:solidFill>
                <a:latin typeface="Noto Sans KR"/>
              </a:rPr>
              <a:t>PROVEN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762000"/>
            <a:ext cx="1152144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2400" i="0" u="none">
                <a:solidFill>
                  <a:srgbClr val="0F172A"/>
                </a:solidFill>
                <a:latin typeface="Noto Sans KR ExtraBold"/>
              </a:rPr>
              <a:t>검증된 실적 및 NordAxe 아키텍처 특장점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7450" y="1495425"/>
            <a:ext cx="5305425" cy="4819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7725" y="2671762"/>
            <a:ext cx="4829175" cy="102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1" sz="1350" i="0" u="none">
                <a:solidFill>
                  <a:srgbClr val="334155"/>
                </a:solidFill>
                <a:latin typeface="Noto Sans KR"/>
              </a:rPr>
              <a:t>SK하이닉스 M16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및 </a:t>
            </a:r>
            <a:r>
              <a:rPr b="1" sz="1350" i="0" u="none">
                <a:solidFill>
                  <a:srgbClr val="334155"/>
                </a:solidFill>
                <a:latin typeface="Noto Sans KR"/>
              </a:rPr>
              <a:t>LS일렉트릭 ESS MES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채택 프레임워크 베이스</a:t>
            </a:r>
            <a:r>
              <a:t>
</a:t>
            </a:r>
            <a:r>
              <a:rPr b="0" sz="1350" i="0" u="none">
                <a:solidFill>
                  <a:srgbClr val="334155"/>
                </a:solidFill>
                <a:latin typeface="Noto Sans KR"/>
              </a:rPr>
              <a:t> Legacy MES를 Spring 구조 MVC MAS MES로 안정적 변환 지원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4700587"/>
            <a:ext cx="4829175" cy="77152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b="0" sz="1350" i="0" u="none">
                <a:solidFill>
                  <a:srgbClr val="334155"/>
                </a:solidFill>
                <a:latin typeface="Noto Sans KR"/>
              </a:rPr>
              <a:t>Spring AOP 구조적 유사성을 유지하되, SLF4J 퍼사드 패턴 기반 계통화된 Factory로 제공되어 Enterprise 소스 품질 관제 및 제어 특화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725" y="2362200"/>
            <a:ext cx="163115" cy="2095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06090" y="2338387"/>
            <a:ext cx="2367014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초대형 제조 레퍼런스 검증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725" y="4391025"/>
            <a:ext cx="163115" cy="2095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06090" y="4367212"/>
            <a:ext cx="3078509" cy="257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500" i="0" u="none">
                <a:solidFill>
                  <a:srgbClr val="0F172A"/>
                </a:solidFill>
                <a:latin typeface="Noto Sans KR"/>
              </a:rPr>
              <a:t>Spring AOP &amp; SLF4J 퍼사드 구조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351" y="1761232"/>
            <a:ext cx="1905297" cy="2667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04557" y="2256532"/>
            <a:ext cx="5582885" cy="109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b="0" sz="3600" i="0" u="none">
                <a:solidFill>
                  <a:srgbClr val="F8FAFC"/>
                </a:solidFill>
                <a:latin typeface="Noto Sans KR Black"/>
              </a:rPr>
              <a:t>지능형 제조 AI Agent로의</a:t>
            </a:r>
            <a:r>
              <a:t>
</a:t>
            </a:r>
            <a:r>
              <a:rPr b="0" sz="3600" i="0" u="none">
                <a:solidFill>
                  <a:srgbClr val="38BDF8"/>
                </a:solidFill>
                <a:latin typeface="Noto Sans KR Black"/>
              </a:rPr>
              <a:t>성공적인 전환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95500" y="3544192"/>
            <a:ext cx="80010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b="0" sz="1500" i="0" u="none">
                <a:solidFill>
                  <a:srgbClr val="94A3B8"/>
                </a:solidFill>
                <a:latin typeface="Noto Sans KR"/>
              </a:rPr>
              <a:t>바이브 코딩 표준화, MES CSV/Vector RAG 구축, NordAxe Enterprise 프레임워크를 통해 제조 현장의 생산성과 품질을 혁신합니다.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810250" y="4534792"/>
            <a:ext cx="571500" cy="28575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76713" y="4868167"/>
            <a:ext cx="14385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b="0" sz="1350" i="0" u="none">
                <a:solidFill>
                  <a:srgbClr val="CBD5E1"/>
                </a:solidFill>
                <a:latin typeface="Noto Sans KR Medium"/>
              </a:rPr>
              <a:t>Q &amp; A / 감사합니다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1160145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1" sz="1800" i="0" u="none">
                <a:solidFill>
                  <a:srgbClr val="0F172A"/>
                </a:solidFill>
                <a:latin typeface="Noto Sans KR"/>
              </a:rPr>
              <a:t>Image Sources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81075"/>
            <a:ext cx="857250" cy="4762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66875" y="1038225"/>
            <a:ext cx="9953625" cy="142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975" i="0" u="none">
                <a:solidFill>
                  <a:srgbClr val="0F172A"/>
                </a:solidFill>
                <a:latin typeface="Noto Sans KR"/>
              </a:rPr>
              <a:t>https://www.einnosys.com/wp-content/uploads/2026/03/Industry-4.0-Smart-Factory-Solutions-for-Semiconductor-Manufacturing.webp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66875" y="1228725"/>
            <a:ext cx="9953625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b="0" sz="1200" i="0" u="none">
                <a:solidFill>
                  <a:srgbClr val="0F172A"/>
                </a:solidFill>
                <a:latin typeface="Noto Sans KR"/>
              </a:rPr>
              <a:t>Source: </a:t>
            </a:r>
            <a:r>
              <a:rPr b="0" sz="1200" i="0" u="none">
                <a:solidFill>
                  <a:srgbClr val="4F46E5"/>
                </a:solidFill>
                <a:latin typeface="Noto Sans KR"/>
              </a:rPr>
              <a:t>www.einnosys.com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