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3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8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5.png"/><Relationship Id="rId5" Type="http://schemas.openxmlformats.org/officeDocument/2006/relationships/image" Target="../media/image30.png"/><Relationship Id="rId10" Type="http://schemas.openxmlformats.org/officeDocument/2006/relationships/image" Target="../media/image34.png"/><Relationship Id="rId4" Type="http://schemas.openxmlformats.org/officeDocument/2006/relationships/image" Target="../media/image29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21" Type="http://schemas.openxmlformats.org/officeDocument/2006/relationships/image" Target="../media/image58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20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11" Type="http://schemas.openxmlformats.org/officeDocument/2006/relationships/image" Target="../media/image74.png"/><Relationship Id="rId5" Type="http://schemas.openxmlformats.org/officeDocument/2006/relationships/image" Target="../media/image68.png"/><Relationship Id="rId10" Type="http://schemas.openxmlformats.org/officeDocument/2006/relationships/image" Target="../media/image73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78.png"/><Relationship Id="rId10" Type="http://schemas.openxmlformats.org/officeDocument/2006/relationships/image" Target="../media/image83.png"/><Relationship Id="rId4" Type="http://schemas.openxmlformats.org/officeDocument/2006/relationships/image" Target="../media/image77.png"/><Relationship Id="rId9" Type="http://schemas.openxmlformats.org/officeDocument/2006/relationships/image" Target="../media/image8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5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hyperlink" Target="https://github.com/mordent/OpenProject" TargetMode="External"/><Relationship Id="rId4" Type="http://schemas.openxmlformats.org/officeDocument/2006/relationships/image" Target="../media/image9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4661445"/>
            <a:ext cx="7810500" cy="419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777454"/>
            <a:ext cx="7810500" cy="2762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Noto Sans KR Medium"/>
              </a:rPr>
              <a:t>제조 시스템 기술 혁신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282279"/>
            <a:ext cx="8201025" cy="1190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sz="3750" b="0" i="0" u="none">
                <a:solidFill>
                  <a:srgbClr val="F8FAFC"/>
                </a:solidFill>
                <a:latin typeface="Noto Sans KR Black"/>
              </a:rPr>
              <a:t>제조 분야 AI Agent</a:t>
            </a:r>
            <a:r>
              <a:t>
</a:t>
            </a:r>
            <a:r>
              <a:rPr sz="3750" b="0" i="0" u="none">
                <a:solidFill>
                  <a:srgbClr val="38BDF8"/>
                </a:solidFill>
                <a:latin typeface="Noto Sans KR Black"/>
              </a:rPr>
              <a:t>아키텍처 구성 및 실행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701504"/>
            <a:ext cx="78105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Noto Sans KR"/>
              </a:rPr>
              <a:t>바이브 코딩 개발 파이프라인, 비(非)바이브 품질 관제, MES CSV/Vector RAG 구축 및 NordAxe 프레임워크 통합 가이드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77454"/>
            <a:ext cx="2404467" cy="2762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904333"/>
            <a:ext cx="133498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748" y="4899570"/>
            <a:ext cx="150822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Noto Sans KR Medium"/>
              </a:rPr>
              <a:t>바이브 코딩 파이프라인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773" y="4904333"/>
            <a:ext cx="133498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032521" y="4909095"/>
            <a:ext cx="157222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Noto Sans KR Medium"/>
              </a:rPr>
              <a:t>MES CSV &amp; Vector RAG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542" y="4904333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38291" y="4909095"/>
            <a:ext cx="1651992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Noto Sans KR Medium"/>
              </a:rPr>
              <a:t>NordAxe Enterprise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2619375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1162050"/>
            <a:ext cx="2619375" cy="5238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162050"/>
            <a:ext cx="2619375" cy="52387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1162050"/>
            <a:ext cx="2619375" cy="523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제조 AI Agent 아키텍처 4대 핵심 축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132" y="547687"/>
            <a:ext cx="1604367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40017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1971675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JetBrains Mono"/>
              </a:rPr>
              <a:t>PILLAR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190750"/>
            <a:ext cx="2250281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바이브 코딩 표준화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522190"/>
            <a:ext cx="21431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Spring 구조 맞춤 Inhouse 프레임워크 및 프론트/백엔드/인터페이스 3대 표준 설계서 양식 도입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1400175"/>
            <a:ext cx="419100" cy="4191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9500" y="1971675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JetBrains Mono"/>
              </a:rPr>
              <a:t>PILLAR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2190750"/>
            <a:ext cx="2250281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레거시 소스 품질 관제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2522190"/>
            <a:ext cx="21431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Spring 범용 프레임워크 기반, 로그/Data RAG 기반 5단계 Prompt 분석을 통한 동작 무결성 검증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1400175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375" y="1971675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JetBrains Mono"/>
              </a:rPr>
              <a:t>PILLAR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2190750"/>
            <a:ext cx="2250281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MES Batch CSV &amp; 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2522190"/>
            <a:ext cx="2143125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WO/LOT/EQP/Log 추출 Tool, 주기적 배치 CSV 변환 및 Postgres/Qdrant Vector RAG 구축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0" y="1400175"/>
            <a:ext cx="419100" cy="419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250" y="1971675"/>
            <a:ext cx="21431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JetBrains Mono"/>
              </a:rPr>
              <a:t>PILLAR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2190750"/>
            <a:ext cx="2250281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NordAxe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0" y="2522190"/>
            <a:ext cx="21431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Enterprise Java 비즈니스 자산 직결, 다중 감사 Prompt Thread 및 Blue-Green 무정지 운영 지원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5058" y="1514475"/>
            <a:ext cx="148232" cy="1905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54933" y="1514475"/>
            <a:ext cx="148232" cy="1905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64808" y="1514475"/>
            <a:ext cx="148232" cy="1905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74683" y="1514475"/>
            <a:ext cx="148232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162050"/>
            <a:ext cx="539115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62050"/>
            <a:ext cx="5391150" cy="11200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434530"/>
            <a:ext cx="5391150" cy="11200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707010"/>
            <a:ext cx="5391150" cy="112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개발 단계: 바이브 코딩 프레임워크 &amp; 표준 규범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021" y="547687"/>
            <a:ext cx="1158478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8200" y="1400175"/>
            <a:ext cx="5130641" cy="20568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0F172A"/>
                </a:solidFill>
                <a:latin typeface="Noto Sans KR ExtraBold"/>
              </a:rPr>
              <a:t>Spring 구조적 유사성 극대화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82055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Inhouse 프레임워크의 구조적 유사성을 Spring과 일치시켜 AI의 동작 정확도 향상 및 토큰 소모 최소화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72655"/>
            <a:ext cx="5130641" cy="20568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0F172A"/>
                </a:solidFill>
                <a:latin typeface="Noto Sans KR ExtraBold"/>
              </a:rPr>
              <a:t>코딩 컨벤션 &amp; 안티패턴 정의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954535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언어·라이브러리·비즈니스 룰 기반 컨벤션 작성 및 리소스 생성을 규제하는 안티패턴 목록 명확화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945135"/>
            <a:ext cx="5130641" cy="20568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 u="none">
                <a:solidFill>
                  <a:srgbClr val="0F172A"/>
                </a:solidFill>
                <a:latin typeface="Noto Sans KR ExtraBold"/>
              </a:rPr>
              <a:t>변경 이력 단위 Commit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227016"/>
            <a:ext cx="48863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산출물의 변경 이력 단위로 commit을 분리하여 Agent가 자동 생성하도록 문서 및 컨벤션 보강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552700"/>
            <a:ext cx="177849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16774" y="2552700"/>
            <a:ext cx="233388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FFFFFF"/>
                </a:solidFill>
                <a:latin typeface="Noto Sans KR ExtraBold"/>
              </a:rPr>
              <a:t>표준 3대 설계서 양식 체계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2971800"/>
            <a:ext cx="4762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1. 프론트엔드 설계서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UI/UX 스펙 및 백엔드 연동 통신 스펙 정의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43675" y="3581400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43675" y="3743325"/>
            <a:ext cx="4762500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2. 백엔드 설계서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Data 처리 순서 및 프론트엔드 통신 스펙 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43675" y="4352925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43675" y="4514850"/>
            <a:ext cx="47625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8BDF8"/>
                </a:solidFill>
                <a:latin typeface="Noto Sans KR"/>
              </a:rPr>
              <a:t>3. 인터페이스 설계서</a:t>
            </a:r>
            <a:r>
              <a:rPr sz="1200" b="0" i="0" u="none">
                <a:solidFill>
                  <a:srgbClr val="CBD5E1"/>
                </a:solidFill>
                <a:latin typeface="Noto Sans KR"/>
              </a:rPr>
              <a:t> 설비 및 외부 타 시스템과의 통신 스펙 명시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409700"/>
            <a:ext cx="133498" cy="1714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2682180"/>
            <a:ext cx="133498" cy="1714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954660"/>
            <a:ext cx="133498" cy="17145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543675" y="3581400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43675" y="4352925"/>
            <a:ext cx="47625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353050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600" y="1162050"/>
            <a:ext cx="3530649" cy="5238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850" y="1162050"/>
            <a:ext cx="3530500" cy="5238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형상 관리 브랜치 전략 &amp; CI/CD 안전 배포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2021" y="547687"/>
            <a:ext cx="1158478" cy="2571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1400175"/>
            <a:ext cx="419100" cy="4191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971675"/>
            <a:ext cx="305425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219325"/>
            <a:ext cx="3206963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저장소 분리 &amp; 권한 제어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725" y="1400175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8725" y="1971675"/>
            <a:ext cx="3054399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8725" y="2219325"/>
            <a:ext cx="3207119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feature 검증 &amp; 회귀 처리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7975" y="1400175"/>
            <a:ext cx="419100" cy="419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975" y="1971675"/>
            <a:ext cx="305425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27975" y="2219325"/>
            <a:ext cx="3206963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단계별 CI/CD 배포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058" y="1514475"/>
            <a:ext cx="148232" cy="190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19175" y="253171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영역 분리: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문서, 소스, 설정 저장소 각각 개별 분리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9175" y="308416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접근 권한: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개발자·설계자·유지보수자 역할별 접근 권한 차등화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175" y="363661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안전장치: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Main 브랜치 직접 커밋 차단, 승인 후 Merge 통제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4159" y="1514475"/>
            <a:ext cx="148232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78275" y="2531715"/>
            <a:ext cx="2844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1차 검증: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feature 브랜치에서 Agent 변경 코드 결과 자체 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8275" y="3084165"/>
            <a:ext cx="2844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develop 병합: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타 시스템 연계 및 통합 테스트 수행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8275" y="3636615"/>
            <a:ext cx="284484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회귀 처리: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연계 미만족 시 산출물 단계 회귀 후 feature 삭제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63408" y="1514475"/>
            <a:ext cx="148232" cy="190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37525" y="253171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개발 배포: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develop 소스+설정 자동 결합, 개발서버 자동 배포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7525" y="308416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통합 테스트: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개발서버 최종 검증 완료 commit 및 설정 확정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7525" y="3636615"/>
            <a:ext cx="28447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운영 배포: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검증 완료 commit 결합, master 병합 후 운영 배포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625" y="25126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625" y="30651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625" y="36175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8725" y="25126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8725" y="30651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8725" y="36175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7975" y="25126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7975" y="30651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7975" y="36175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1104900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3256657"/>
            <a:ext cx="10648950" cy="6780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1362075"/>
            <a:ext cx="1905000" cy="523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305425"/>
            <a:ext cx="3308300" cy="8953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1924" y="5391150"/>
            <a:ext cx="3308300" cy="723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2323" y="5391150"/>
            <a:ext cx="3308300" cy="723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바이브 코딩 &amp; CI/CD 개발 파이프라인 구성도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9077" y="547687"/>
            <a:ext cx="1381422" cy="2571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02905" y="1414462"/>
            <a:ext cx="8417569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29176" y="2480816"/>
            <a:ext cx="133498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29176" y="4529583"/>
            <a:ext cx="133498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0825" y="1533525"/>
            <a:ext cx="9778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51684" y="1538287"/>
            <a:ext cx="1375916" cy="171450"/>
          </a:xfrm>
          <a:prstGeom prst="rect">
            <a:avLst/>
          </a:prstGeom>
          <a:noFill/>
        </p:spPr>
        <p:txBody>
          <a:bodyPr wrap="square" lIns="160883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Noto Sans KR"/>
              </a:rPr>
              <a:t>Inhouse 프레임워크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1457" y="1538287"/>
            <a:ext cx="864691" cy="171450"/>
          </a:xfrm>
          <a:prstGeom prst="rect">
            <a:avLst/>
          </a:prstGeom>
          <a:noFill/>
        </p:spPr>
        <p:txBody>
          <a:bodyPr wrap="square" lIns="160883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Noto Sans KR"/>
              </a:rPr>
              <a:t>코딩 컨벤션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0006" y="1538287"/>
            <a:ext cx="1131391" cy="171450"/>
          </a:xfrm>
          <a:prstGeom prst="rect">
            <a:avLst/>
          </a:prstGeom>
          <a:noFill/>
        </p:spPr>
        <p:txBody>
          <a:bodyPr wrap="square" lIns="160883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293B"/>
                </a:solidFill>
                <a:latin typeface="Noto Sans KR"/>
              </a:rPr>
              <a:t>안티패턴 리스트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9650" y="3471862"/>
            <a:ext cx="192732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01001" y="3467100"/>
            <a:ext cx="1092249" cy="2571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69450" y="3467100"/>
            <a:ext cx="812899" cy="2571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2500" y="5476875"/>
            <a:ext cx="29463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feature Branch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5715000"/>
            <a:ext cx="2946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연계 미만족 시 산출물 단계 회귀 및 feature 브랜치 삭제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94125" y="5662612"/>
            <a:ext cx="133498" cy="1714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22899" y="5562600"/>
            <a:ext cx="29463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develop Branch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2899" y="5800725"/>
            <a:ext cx="294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소스+설정 합쳐 개발서버 자동 배포 후 연계 테스트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4524" y="5662612"/>
            <a:ext cx="133498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93298" y="5562600"/>
            <a:ext cx="2946350" cy="1809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Noto Sans KR"/>
              </a:rPr>
              <a:t>master Branch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298" y="5800725"/>
            <a:ext cx="29463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64748B"/>
                </a:solidFill>
                <a:latin typeface="Noto Sans KR"/>
              </a:rPr>
              <a:t>검증 완료 commit + 설정 변경 승인 병합 및 Release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951684" y="1557337"/>
            <a:ext cx="103733" cy="13335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01457" y="1557337"/>
            <a:ext cx="103733" cy="13335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40006" y="1557337"/>
            <a:ext cx="103733" cy="1333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335732" y="3418582"/>
            <a:ext cx="3373390" cy="182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39"/>
              </a:lnSpc>
            </a:pPr>
            <a:r>
              <a:rPr sz="1200" b="1" i="0" u="none">
                <a:solidFill>
                  <a:srgbClr val="0F172A"/>
                </a:solidFill>
                <a:latin typeface="Noto Sans KR"/>
              </a:rPr>
              <a:t>AI Agent 바이브 코딩 엔진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732" y="3601342"/>
            <a:ext cx="321275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475569"/>
                </a:solidFill>
                <a:latin typeface="Noto Sans KR"/>
              </a:rPr>
              <a:t>산출물 변경 이력 단위 소스코드 및 Commit 분리 자동 생성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382714" y="5476875"/>
            <a:ext cx="516135" cy="1809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931074" y="5562600"/>
            <a:ext cx="638175" cy="1809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77078" y="5562600"/>
            <a:ext cx="56257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539115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391150" cy="5238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3948112"/>
            <a:ext cx="4762500" cy="7143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비(非)바이브 코딩 소스 품질 관제 프로세스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39077" y="547687"/>
            <a:ext cx="1381422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3300412"/>
            <a:ext cx="476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바이브 코딩으로 제작되지 않은 레거시 또는 외부 개발 소스는 범용성과 제어력이 뛰어난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Spring 기반 프레임워크 구조로 제어</a:t>
            </a:r>
            <a:r>
              <a:rPr sz="1125" b="0" i="0" u="none">
                <a:solidFill>
                  <a:srgbClr val="475569"/>
                </a:solidFill>
                <a:latin typeface="Noto Sans KR"/>
              </a:rPr>
              <a:t>합니다.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900362"/>
            <a:ext cx="192732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92857" y="2909887"/>
            <a:ext cx="2800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0F172A"/>
                </a:solidFill>
                <a:latin typeface="Noto Sans KR ExtraBold"/>
              </a:rPr>
              <a:t>Spring 범용 프레임워크 표준화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4110037"/>
            <a:ext cx="44386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E40AF"/>
                </a:solidFill>
                <a:latin typeface="Noto Sans KR"/>
              </a:rPr>
              <a:t>필수 강제 가이드라인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7750" y="4319587"/>
            <a:ext cx="3397746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1E293B"/>
                </a:solidFill>
                <a:latin typeface="Noto Sans KR Medium"/>
              </a:rPr>
              <a:t>코딩 컨벤션 및 리소스 안티패턴 규칙 100% 의무 적용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705100"/>
            <a:ext cx="192732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12607" y="2714625"/>
            <a:ext cx="308944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0F172A"/>
                </a:solidFill>
                <a:latin typeface="Noto Sans KR ExtraBold"/>
              </a:rPr>
              <a:t>5단계 Prompt 기반 소스 품질 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105150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로그 &amp; Data RAG 추출: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MES 핵심 처리 로그 및 Data 추출 Tool 연동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3429000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5회 연속 Prompt 검증: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추출된 로그와 RAG 데이터를 활용하여 5단계 프롬프트 기반 품질 관제 수행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981450"/>
            <a:ext cx="4629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무결성 검증: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소스코드 동작 무결성 및 시스템 연동 정합성 자동 판정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305300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안정성 확보: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무분별한 메모리/DB 리소스 누수 및 예외 발생 사전 차단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30861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34099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39624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5575" y="42862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987105"/>
            <a:ext cx="11049000" cy="8934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2180"/>
            <a:ext cx="3530500" cy="111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600" y="2682180"/>
            <a:ext cx="3530649" cy="1114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850" y="2682180"/>
            <a:ext cx="3530500" cy="11144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운영 AI Agent용 MES 핵심 Data &amp; Log Tools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39077" y="547687"/>
            <a:ext cx="1381422" cy="2571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327" y="4276576"/>
            <a:ext cx="1438572" cy="3143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920305"/>
            <a:ext cx="3054250" cy="200025"/>
          </a:xfrm>
          <a:prstGeom prst="rect">
            <a:avLst/>
          </a:prstGeom>
          <a:noFill/>
        </p:spPr>
        <p:txBody>
          <a:bodyPr wrap="square" lIns="19064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KR"/>
              </a:rPr>
              <a:t>WO &amp; LOT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196530"/>
            <a:ext cx="3054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작업지시(WO) 상태 및 LOT 추적 데이터 추출/관제 전용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725" y="2920305"/>
            <a:ext cx="3054399" cy="200025"/>
          </a:xfrm>
          <a:prstGeom prst="rect">
            <a:avLst/>
          </a:prstGeom>
          <a:noFill/>
        </p:spPr>
        <p:txBody>
          <a:bodyPr wrap="square" lIns="19064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KR"/>
              </a:rPr>
              <a:t>EQUIPMENT Tool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8725" y="3196530"/>
            <a:ext cx="305439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설비 가동 상태, 가동률, 파라미터 상태 데이터 실시간 추출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7975" y="2920305"/>
            <a:ext cx="3054250" cy="200025"/>
          </a:xfrm>
          <a:prstGeom prst="rect">
            <a:avLst/>
          </a:prstGeom>
          <a:noFill/>
        </p:spPr>
        <p:txBody>
          <a:bodyPr wrap="square" lIns="190648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2563EB"/>
                </a:solidFill>
                <a:latin typeface="Noto Sans KR"/>
              </a:rPr>
              <a:t>PROCESS &amp; TRACK Tool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7975" y="3196530"/>
            <a:ext cx="30542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Noto Sans KR"/>
              </a:rPr>
              <a:t>공정 순서, Track In/Out 이력 데이터 분석 및 병목 탐지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" y="4281338"/>
            <a:ext cx="237083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625" y="2929830"/>
            <a:ext cx="133498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68725" y="2929830"/>
            <a:ext cx="133498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27975" y="2929830"/>
            <a:ext cx="133498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89583" y="4215705"/>
            <a:ext cx="6068258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FFFFFF"/>
                </a:solidFill>
                <a:latin typeface="Noto Sans KR ExtraBold"/>
              </a:rPr>
              <a:t>인터페이스 &amp; Log 추출 전용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9583" y="4470945"/>
            <a:ext cx="5779293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94A3B8"/>
                </a:solidFill>
                <a:latin typeface="Noto Sans KR"/>
              </a:rPr>
              <a:t>설비·타 시스템 통신 스펙 정의 인터페이스 및 MES 핵심 처리 Execution Log 추출 기능 연동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1362075"/>
            <a:ext cx="2741562" cy="5810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186" y="1362075"/>
            <a:ext cx="3232695" cy="581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9981" y="1376362"/>
            <a:ext cx="3950493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301555"/>
            <a:ext cx="5191125" cy="8990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9350" y="5301555"/>
            <a:ext cx="5191125" cy="8990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MES CSV 변환 &amp; Vector RAG 시스템 구성도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39077" y="547687"/>
            <a:ext cx="1381422" cy="2571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6617" y="3546127"/>
            <a:ext cx="118616" cy="152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1504950"/>
            <a:ext cx="2455812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64748B"/>
                </a:solidFill>
                <a:latin typeface="JetBrains Mono"/>
              </a:rPr>
              <a:t>SOURCE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4415" y="1619250"/>
            <a:ext cx="173563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MES 핵심 DB &amp; Log Tools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27387" y="1562100"/>
            <a:ext cx="133498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18061" y="1504950"/>
            <a:ext cx="294694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1" i="0" u="none">
                <a:solidFill>
                  <a:srgbClr val="1E40AF"/>
                </a:solidFill>
                <a:latin typeface="JetBrains Mono"/>
              </a:rPr>
              <a:t>BATCH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4973" y="1619250"/>
            <a:ext cx="1413123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Noto Sans KR"/>
              </a:rPr>
              <a:t>주기적 CSV 변환 저장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2182" y="1562100"/>
            <a:ext cx="133498" cy="171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9650" y="5791051"/>
            <a:ext cx="471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Noto Sans KR"/>
              </a:rPr>
              <a:t>사용자의 대화형 실시간 질의응답 및 RAG 연동 대답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7475" y="5791051"/>
            <a:ext cx="4714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293B"/>
                </a:solidFill>
                <a:latin typeface="Noto Sans KR"/>
              </a:rPr>
              <a:t>실행/보관 주기 제어, 시각화 차트 생성 및 이상 발생 시 Alarm 발송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9650" y="5560516"/>
            <a:ext cx="118616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04466" y="5539680"/>
            <a:ext cx="982466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0F172A"/>
                </a:solidFill>
                <a:latin typeface="Noto Sans KR ExtraBold"/>
              </a:rPr>
              <a:t>일반 Prompt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08294" y="5560516"/>
            <a:ext cx="774055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67475" y="5560516"/>
            <a:ext cx="118616" cy="152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662291" y="5539680"/>
            <a:ext cx="1908050" cy="194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 u="none">
                <a:solidFill>
                  <a:srgbClr val="0F172A"/>
                </a:solidFill>
                <a:latin typeface="Noto Sans KR ExtraBold"/>
              </a:rPr>
              <a:t>자동주기 Prompt (GUID)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539115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391150" cy="523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자동주기 Prompt 관제 &amp; 프롬프트 엔지니어링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0546" y="547687"/>
            <a:ext cx="1529953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400175"/>
            <a:ext cx="419100" cy="4191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1971675"/>
            <a:ext cx="5160645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GUID 기반 DB 메타 관리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400175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7475" y="1971675"/>
            <a:ext cx="5160645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프롬프트 엔지니어링 고도화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058" y="1514475"/>
            <a:ext cx="148232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19175" y="2303115"/>
            <a:ext cx="4705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고유 식별자: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모든 자동주기 Prompt에 고유 GUID 부여하여 DB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9175" y="2626965"/>
            <a:ext cx="4705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주기 제어: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프롬프트별 실행 주기 및 결과 데이터 보관 주기 개별 설정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295081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공유 &amp; 시각화: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공유 프롬프트 설정 및 시각화 라이브러리 차트 자동 연동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503265"/>
            <a:ext cx="47053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Alarm 관제: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Data 생성 시 이상 수치 감지 시 자동 Alarm 발송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908" y="1514475"/>
            <a:ext cx="148232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677025" y="230311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LLM 자체 분석: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프롬프트 구문 및 생성 응답 유효성에 대한 LLM 기반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7025" y="285556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사용 통계 관리: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분석 모델별 호출 빈도, 성공률, 데이터 분석 유효성 통계화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7025" y="340801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분석 모델 발굴: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통계 지표를 바탕으로 다양한 신규 분석 모델 지속 발굴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7025" y="3960465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선순환 개선: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사용 통계 데이터 기반 AI 프롬프트 품질 자동 개선 체계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22840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26079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29317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34842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7475" y="22840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7475" y="28365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7475" y="338896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7475" y="3941415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162050"/>
            <a:ext cx="539115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62050"/>
            <a:ext cx="5391150" cy="14229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737395"/>
            <a:ext cx="5391150" cy="1400175"/>
          </a:xfrm>
          <a:prstGeom prst="rect">
            <a:avLst/>
          </a:prstGeom>
        </p:spPr>
      </p:pic>
      <p:sp>
        <p:nvSpPr>
          <p:cNvPr id="5" name="TextBox 4">
            <a:hlinkClick r:id="rId5"/>
          </p:cNvPr>
          <p:cNvSpPr txBox="1"/>
          <p:nvPr/>
        </p:nvSpPr>
        <p:spPr>
          <a:xfrm>
            <a:off x="571500" y="480067"/>
            <a:ext cx="11049000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Noto Sans KR ExtraBold"/>
                <a:hlinkClick r:id="rId5"/>
              </a:rPr>
              <a:t>왜 </a:t>
            </a:r>
            <a:r>
              <a:rPr sz="2550" b="0" i="0" u="none" dirty="0" err="1">
                <a:solidFill>
                  <a:srgbClr val="0F172A"/>
                </a:solidFill>
                <a:latin typeface="Noto Sans KR ExtraBold"/>
                <a:hlinkClick r:id="rId5"/>
              </a:rPr>
              <a:t>NordAxe</a:t>
            </a:r>
            <a:r>
              <a:rPr sz="2550" b="0" i="0" u="none" dirty="0">
                <a:solidFill>
                  <a:srgbClr val="0F172A"/>
                </a:solidFill>
                <a:latin typeface="Noto Sans KR ExtraBold"/>
                <a:hlinkClick r:id="rId5"/>
              </a:rPr>
              <a:t> </a:t>
            </a:r>
            <a:r>
              <a:rPr sz="2550" b="0" i="0" u="none" dirty="0" err="1">
                <a:solidFill>
                  <a:srgbClr val="0F172A"/>
                </a:solidFill>
                <a:latin typeface="Noto Sans KR ExtraBold"/>
                <a:hlinkClick r:id="rId5"/>
              </a:rPr>
              <a:t>프레임워크인가</a:t>
            </a:r>
            <a:r>
              <a:rPr sz="2550" b="0" i="0" u="none" dirty="0">
                <a:solidFill>
                  <a:srgbClr val="0F172A"/>
                </a:solidFill>
                <a:latin typeface="Noto Sans KR ExtraBold"/>
                <a:hlinkClick r:id="rId5"/>
              </a:rPr>
              <a:t>?</a:t>
            </a:r>
            <a:endParaRPr sz="2550" b="0" i="0" u="none" dirty="0">
              <a:solidFill>
                <a:srgbClr val="0F172A"/>
              </a:solidFill>
              <a:latin typeface="Noto Sans KR ExtraBold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6132" y="547687"/>
            <a:ext cx="1604367" cy="2571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05575" y="2533650"/>
            <a:ext cx="5080635" cy="228600"/>
          </a:xfrm>
          <a:prstGeom prst="rect">
            <a:avLst/>
          </a:prstGeom>
          <a:noFill/>
        </p:spPr>
        <p:txBody>
          <a:bodyPr wrap="square" lIns="224432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0F172A"/>
                </a:solidFill>
                <a:latin typeface="Noto Sans KR ExtraBold"/>
              </a:rPr>
              <a:t>NordAxe (AX Easy) 핵심 이점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1400175"/>
            <a:ext cx="4914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JetBrains Mono"/>
              </a:rPr>
              <a:t>ECOSYSTEM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1590675"/>
            <a:ext cx="5160645" cy="251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sz="1650" b="0" i="0" u="none">
                <a:solidFill>
                  <a:srgbClr val="FFFFFF"/>
                </a:solidFill>
                <a:latin typeface="Noto Sans KR ExtraBold"/>
              </a:rPr>
              <a:t>Python 90%+ vs Java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918245"/>
            <a:ext cx="49149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Noto Sans KR"/>
              </a:rPr>
              <a:t>AI Agent 생태계의 90% 이상은 Python 기반이나, 실제 기업 Enterprise 운영 환경은 대부분 Java/C# 기반입니다.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975520"/>
            <a:ext cx="48863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6A34A"/>
                </a:solidFill>
                <a:latin typeface="JetBrains Mono"/>
              </a:rPr>
              <a:t>COST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66020"/>
            <a:ext cx="513064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0" i="0" u="none">
                <a:solidFill>
                  <a:srgbClr val="0F172A"/>
                </a:solidFill>
                <a:latin typeface="Noto Sans KR ExtraBold"/>
              </a:rPr>
              <a:t>Java Business 모듈 직결 재활용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70820"/>
            <a:ext cx="48863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Noto Sans KR"/>
              </a:rPr>
              <a:t>기존 Java Business 모듈을 큰 변환 공수 없이 Java Agent의 Tool로 즉시 활용하여 </a:t>
            </a:r>
            <a:r>
              <a:rPr sz="1125" b="1" i="0" u="none">
                <a:solidFill>
                  <a:srgbClr val="475569"/>
                </a:solidFill>
                <a:latin typeface="Noto Sans KR"/>
              </a:rPr>
              <a:t>압도적 개발 비용 절감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575" y="2552700"/>
            <a:ext cx="148232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15125" y="2914650"/>
            <a:ext cx="46291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대규모 시스템 안정성: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파이프라인 프로토타이핑(Python)을 넘어 대규모 대용량 운영 체계(Java) 확립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3467100"/>
            <a:ext cx="4629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Spring AOP &amp; SLF4J 퍼사드: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Spring AOP 구조적 유사성을 유지하되, SLF4J 퍼사드 패턴 기반 계통화 Factory 제공으로 소스 품질 제어 특화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4248150"/>
            <a:ext cx="46291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Legacy MES MAS 변환: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SK하이닉스 M16 및 LS일렉트릭 ESS MES 채택 프레임워크 베이스로 Legacy MES를 Spring MVC MAS MES로 안정적 변환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28956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5575" y="34480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5575" y="42291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62050"/>
            <a:ext cx="5391150" cy="52387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1162050"/>
            <a:ext cx="5391150" cy="523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57200"/>
            <a:ext cx="11049000" cy="438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Noto Sans KR ExtraBold"/>
              </a:rPr>
              <a:t>NordAxe 다중 감사 Agent &amp; Blue-Green 무정지 운영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9077" y="547687"/>
            <a:ext cx="1381422" cy="2571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1428750"/>
            <a:ext cx="177849" cy="228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82724" y="1434405"/>
            <a:ext cx="2269814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다중 작업 감사 Agent 체계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9175" y="179070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병렬 작업 병합: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복수 AI Agent의 병렬 작업 결과를 유연하게 합산 및 정합성 검증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9175" y="23431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Async Master-Slave: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비동기 작업의 Master-Slave 관계 지정을 통한 작업 감사 Prompt Thread 구성 용이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9175" y="289560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감사 제어: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복잡한 제조 공정 이벤트의 다중 감사 작업 Agent 구축 극대화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1428750"/>
            <a:ext cx="177849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740574" y="1434405"/>
            <a:ext cx="2512814" cy="217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10"/>
              </a:lnSpc>
            </a:pPr>
            <a:r>
              <a:rPr sz="1425" b="0" i="0" u="none">
                <a:solidFill>
                  <a:srgbClr val="0F172A"/>
                </a:solidFill>
                <a:latin typeface="Noto Sans KR ExtraBold"/>
              </a:rPr>
              <a:t>Blue-Green 무정지 배포 전략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7025" y="179070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Non-stop Operation: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서비스 중단을 최소화하는 Blue-Green 배포 전략 완벽 지원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7025" y="234315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Rapid Development: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비즈니스 빠른 개발 지원 및 AI Transformation Easy (AX Easy)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7025" y="2895600"/>
            <a:ext cx="47053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Noto Sans KR"/>
              </a:rPr>
              <a:t>검증된 레퍼런스:</a:t>
            </a:r>
            <a:r>
              <a:rPr sz="1200" b="0" i="0" u="none">
                <a:solidFill>
                  <a:srgbClr val="334155"/>
                </a:solidFill>
                <a:latin typeface="Noto Sans KR"/>
              </a:rPr>
              <a:t> 초대형 반도체 및 에너지 MES 현장에서 입증된 고성능 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17716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23241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28765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17716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232410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7475" y="2876550"/>
            <a:ext cx="762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2563EB"/>
                </a:solidFill>
                <a:latin typeface="Noto Sans KR"/>
              </a:rPr>
              <a:t>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506" y="1758404"/>
            <a:ext cx="1512837" cy="2762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05836" y="2263229"/>
            <a:ext cx="5180178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12"/>
              </a:lnSpc>
            </a:pPr>
            <a:r>
              <a:rPr sz="3450" b="0" i="0" u="none">
                <a:solidFill>
                  <a:srgbClr val="F8FAFC"/>
                </a:solidFill>
                <a:latin typeface="Noto Sans KR Black"/>
              </a:rPr>
              <a:t>지능형 제조 AI Agent로의</a:t>
            </a:r>
            <a:r>
              <a:t>
</a:t>
            </a:r>
            <a:r>
              <a:rPr sz="3450" b="0" i="0" u="none">
                <a:solidFill>
                  <a:srgbClr val="38BDF8"/>
                </a:solidFill>
                <a:latin typeface="Noto Sans KR Black"/>
              </a:rPr>
              <a:t>성공적인 AX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95500" y="3549104"/>
            <a:ext cx="8001000" cy="578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sz="1425" b="0" i="0" u="none">
                <a:solidFill>
                  <a:srgbClr val="94A3B8"/>
                </a:solidFill>
                <a:latin typeface="Noto Sans KR"/>
              </a:rPr>
              <a:t>바이브 코딩 표준화, MES CSV/Vector RAG 구축, NordAxe Enterprise 프레임워크를 통해 제조 현장의 생산성과 품질을 혁신합니다.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5810250" y="4470945"/>
            <a:ext cx="571500" cy="285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16599" y="4766220"/>
            <a:ext cx="1358651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CBD5E1"/>
                </a:solidFill>
                <a:latin typeface="Noto Sans KR Medium"/>
              </a:rPr>
              <a:t>Q &amp; A / 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1129</Words>
  <Application>Microsoft Office PowerPoint</Application>
  <PresentationFormat>와이드스크린</PresentationFormat>
  <Paragraphs>147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JetBrains Mono</vt:lpstr>
      <vt:lpstr>Noto Sans KR</vt:lpstr>
      <vt:lpstr>Noto Sans KR Black</vt:lpstr>
      <vt:lpstr>Noto Sans KR ExtraBold</vt:lpstr>
      <vt:lpstr>Noto Sans KR Medium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태선 이</cp:lastModifiedBy>
  <cp:revision>3</cp:revision>
  <dcterms:created xsi:type="dcterms:W3CDTF">2013-01-27T09:14:16Z</dcterms:created>
  <dcterms:modified xsi:type="dcterms:W3CDTF">2026-09-03T11:06:21Z</dcterms:modified>
  <cp:category/>
</cp:coreProperties>
</file>